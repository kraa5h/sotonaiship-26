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we're the Kerbside team, on the Southampton City track. Kerbside lets a resident text a street problem on iMessage, the app that's already on their phone. It answers only from the council's own web pages, asks a few short questions, and saves one clear report that council staff can act on. The resident gets a private link to follow it. Here's why that matters.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Southampton City Council runs around 700 services, by its own count. A resident with a pothole shouldn't need to know which team handles it, or even which council: the council itself says some SO16, SO18 and SO19 addresses are outside the city. And the track brief says residents report the same problem several times, as photos and free text. So the council gets repeated, messy reports.</a:t>
            </a:r>
          </a:p>
          <a:p/>
          <a:p>
            <a:r>
              <a:t>Clicks: 3 (each click reveals the next part; the slide reads fine with no animation).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idea: message it like a friend, in the app you already use. There's nothing to install: it's a contact in Messages. You say what and where, in words or a photo, and it asks only for what's missing, five messages at most. Then it saves one report and sends you a private link to follow it. The reply on the right is the agent's real wording.</a:t>
            </a:r>
          </a:p>
          <a:p/>
          <a:p>
            <a:r>
              <a:t>Clicks: 3 (each click reveals the next part; the slide reads fine with no animation).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it works. A resident texts on iMessage. The agent reads it, asks up to five short follow-ups, and checks 54 verified facts, each with a council source and a date. It saves one report to the database and checks for repeats. Staff see it on the council dashboard. The resident gets a private link back in the chat, showing only their own report.</a:t>
            </a:r>
          </a:p>
          <a:p/>
          <a:p>
            <a:r>
              <a:t>Clicks: 6 (each click reveals the next part; the slide reads fine with no animation).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Trust is the core rule. The agent only states what the council's own pages say, and shows the source and the date we checked. Potholes over 7.5 centimetres: within 24 hours. The 75 percent street cleaning aim, which the council calls an aim, not a guarantee. The out-of-hours number. And when the facts don't cover it, it says so, in exactly these words.</a:t>
            </a:r>
          </a:p>
          <a:p/>
          <a:p>
            <a:r>
              <a:t>Clicks: 4 (each click reveals the next part; the slide reads fine with no animation).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demo, from the resident's side. They text: massive pothole. The agent logs it and asks one thing: which road. They answer, and it confirms, says honestly that it hasn't gone to the council yet, and sends a link. The link opens this page: status, what happens next, and progress. It's a real page from our site; the report on it is synthetic.</a:t>
            </a:r>
          </a:p>
          <a:p/>
          <a:p>
            <a:r>
              <a:t>Clicks: 3 (each click reveals the next part; the slide reads fine with no animation).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council side. Every saved report lands on one dashboard. Staff filter by time, category and severity, sort by priority with the reasons shown, and change status in one click. Repeats are joined to the earlier report. It works at phone width too. These are real screenshots of our running site, filled with 68 synthetic reports.</a:t>
            </a:r>
          </a:p>
          <a:p/>
          <a:p>
            <a:r>
              <a:t>Clicks: 2 (each click reveals the next part; the slide reads fine with no animation).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knows when to stop. An emergency gets: call 999 now. A place outside the city gets pointed to its own council, using the real boundary, not a postcode guess. Trunk roads, utilities and neighbour issues go to the right place. None of those are saved. A report keeps a salted hash, never the phone number, and a random private link. Credits are on screen.</a:t>
            </a:r>
          </a:p>
          <a:p/>
          <a:p>
            <a:r>
              <a:t>Clicks: 3 (each click reveals the next part; the slide reads fine with no animation).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measured, honestly. On 60 real Southampton FixMyStreet reports, a keyword baseline got 20 of 48 right. We haven't measured our agent yet. The duplicate rule caught 8 of 10 real repeats, but wrongly flagged 17 of 40, all new problems on busy streets. Wins on the left, failures on the right. It's a small sample, labelled by us.</a:t>
            </a:r>
          </a:p>
          <a:p/>
          <a:p>
            <a:r>
              <a:t>Clicks: 4 (each click reveals the next part; the slide reads fine with no animation).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measure the agent, and its cost per report, on the same test set. Send reports into the council's own forms; today they're saved here only. Then try it with one council team. The brief says every UK council handles the same kind of reports, so this can travel. Thank you. We're happy to take questions.</a:t>
            </a:r>
          </a:p>
          <a:p/>
          <a:p>
            <a:r>
              <a:t>Clicks: 3 (each click reveals the next part; the slide reads fine with no animation).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019"/>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548640" y="548640"/>
            <a:ext cx="822960" cy="822960"/>
          </a:xfrm>
          <a:prstGeom prst="rect">
            <a:avLst/>
          </a:prstGeom>
        </p:spPr>
      </p:pic>
      <p:sp>
        <p:nvSpPr>
          <p:cNvPr id="3" name="TextBox 2"/>
          <p:cNvSpPr txBox="1"/>
          <p:nvPr/>
        </p:nvSpPr>
        <p:spPr>
          <a:xfrm>
            <a:off x="548640" y="1874519"/>
            <a:ext cx="10058400" cy="411480"/>
          </a:xfrm>
          <a:prstGeom prst="rect">
            <a:avLst/>
          </a:prstGeom>
          <a:noFill/>
        </p:spPr>
        <p:txBody>
          <a:bodyPr wrap="square" lIns="0" rIns="0" tIns="0" bIns="0" anchor="t">
            <a:noAutofit/>
          </a:bodyPr>
          <a:lstStyle/>
          <a:p>
            <a:pPr algn="l">
              <a:lnSpc>
                <a:spcPct val="108000"/>
              </a:lnSpc>
            </a:pPr>
            <a:r>
              <a:rPr sz="2200" b="1" i="0">
                <a:solidFill>
                  <a:srgbClr val="5FB4EC"/>
                </a:solidFill>
                <a:latin typeface="Arial"/>
              </a:rPr>
              <a:t>SotonShip 2026 · Southampton City track</a:t>
            </a:r>
          </a:p>
        </p:txBody>
      </p:sp>
      <p:sp>
        <p:nvSpPr>
          <p:cNvPr id="4" name="TextBox 3"/>
          <p:cNvSpPr txBox="1"/>
          <p:nvPr/>
        </p:nvSpPr>
        <p:spPr>
          <a:xfrm>
            <a:off x="548640" y="2331720"/>
            <a:ext cx="10058400" cy="1188720"/>
          </a:xfrm>
          <a:prstGeom prst="rect">
            <a:avLst/>
          </a:prstGeom>
          <a:noFill/>
        </p:spPr>
        <p:txBody>
          <a:bodyPr wrap="square" lIns="0" rIns="0" tIns="0" bIns="0" anchor="t">
            <a:noAutofit/>
          </a:bodyPr>
          <a:lstStyle/>
          <a:p>
            <a:pPr algn="l">
              <a:lnSpc>
                <a:spcPct val="108000"/>
              </a:lnSpc>
            </a:pPr>
            <a:r>
              <a:rPr sz="7200" b="1" i="0">
                <a:solidFill>
                  <a:srgbClr val="E8EEF5"/>
                </a:solidFill>
                <a:latin typeface="Arial"/>
              </a:rPr>
              <a:t>Kerbside</a:t>
            </a:r>
          </a:p>
        </p:txBody>
      </p:sp>
      <p:sp>
        <p:nvSpPr>
          <p:cNvPr id="5" name="TextBox 4"/>
          <p:cNvSpPr txBox="1"/>
          <p:nvPr/>
        </p:nvSpPr>
        <p:spPr>
          <a:xfrm>
            <a:off x="548640" y="3566160"/>
            <a:ext cx="9326880" cy="1097280"/>
          </a:xfrm>
          <a:prstGeom prst="rect">
            <a:avLst/>
          </a:prstGeom>
          <a:noFill/>
        </p:spPr>
        <p:txBody>
          <a:bodyPr wrap="square" lIns="0" rIns="0" tIns="0" bIns="0" anchor="t">
            <a:noAutofit/>
          </a:bodyPr>
          <a:lstStyle/>
          <a:p>
            <a:pPr algn="l">
              <a:lnSpc>
                <a:spcPct val="112000"/>
              </a:lnSpc>
            </a:pPr>
            <a:r>
              <a:rPr sz="2800" b="0" i="0">
                <a:solidFill>
                  <a:srgbClr val="B6C2D0"/>
                </a:solidFill>
                <a:latin typeface="Arial"/>
              </a:rPr>
              <a:t>Text a street problem on iMessage. Get one clear report and a private link back.</a:t>
            </a:r>
          </a:p>
        </p:txBody>
      </p:sp>
      <p:sp>
        <p:nvSpPr>
          <p:cNvPr id="6" name="Rectangle 5"/>
          <p:cNvSpPr/>
          <p:nvPr/>
        </p:nvSpPr>
        <p:spPr>
          <a:xfrm>
            <a:off x="548640" y="5257800"/>
            <a:ext cx="11091672" cy="18288"/>
          </a:xfrm>
          <a:prstGeom prst="rect">
            <a:avLst/>
          </a:prstGeom>
          <a:solidFill>
            <a:srgbClr val="2A37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5486400"/>
            <a:ext cx="11064240" cy="822960"/>
          </a:xfrm>
          <a:prstGeom prst="rect">
            <a:avLst/>
          </a:prstGeom>
          <a:noFill/>
        </p:spPr>
        <p:txBody>
          <a:bodyPr wrap="square" lIns="0" rIns="0" tIns="0" bIns="0" anchor="t">
            <a:noAutofit/>
          </a:bodyPr>
          <a:lstStyle/>
          <a:p>
            <a:pPr algn="l">
              <a:lnSpc>
                <a:spcPct val="108000"/>
              </a:lnSpc>
            </a:pPr>
            <a:r>
              <a:rPr sz="2000" b="1" i="0">
                <a:solidFill>
                  <a:srgbClr val="5FB4EC"/>
                </a:solidFill>
                <a:latin typeface="Arial"/>
              </a:rPr>
              <a:t>Team  </a:t>
            </a:r>
            <a:r>
              <a:rPr sz="2000" b="0" i="0">
                <a:solidFill>
                  <a:srgbClr val="B6C2D0"/>
                </a:solidFill>
                <a:latin typeface="Arial"/>
              </a:rPr>
              <a:t>Krish Mathur · Aadil Sirajudeen · Anirudh Udupi Diggavi · [SID24555: name to confirm]</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kicker"/>
          <p:cNvSpPr txBox="1"/>
          <p:nvPr/>
        </p:nvSpPr>
        <p:spPr>
          <a:xfrm>
            <a:off x="548640" y="384048"/>
            <a:ext cx="8229600" cy="365760"/>
          </a:xfrm>
          <a:prstGeom prst="rect">
            <a:avLst/>
          </a:prstGeom>
          <a:noFill/>
        </p:spPr>
        <p:txBody>
          <a:bodyPr wrap="square" lIns="0" rIns="0" tIns="0" bIns="0" anchor="t">
            <a:noAutofit/>
          </a:bodyPr>
          <a:lstStyle/>
          <a:p>
            <a:pPr algn="l">
              <a:lnSpc>
                <a:spcPct val="108000"/>
              </a:lnSpc>
            </a:pPr>
            <a:r>
              <a:rPr sz="1800" b="1" i="0">
                <a:solidFill>
                  <a:srgbClr val="0369A1"/>
                </a:solidFill>
                <a:latin typeface="Arial"/>
              </a:rPr>
              <a:t>THE PROBLEM</a:t>
            </a:r>
          </a:p>
        </p:txBody>
      </p:sp>
      <p:sp>
        <p:nvSpPr>
          <p:cNvPr id="3" name="!!title"/>
          <p:cNvSpPr txBox="1"/>
          <p:nvPr/>
        </p:nvSpPr>
        <p:spPr>
          <a:xfrm>
            <a:off x="548640" y="713232"/>
            <a:ext cx="11064240" cy="685800"/>
          </a:xfrm>
          <a:prstGeom prst="rect">
            <a:avLst/>
          </a:prstGeom>
          <a:noFill/>
        </p:spPr>
        <p:txBody>
          <a:bodyPr wrap="square" lIns="0" rIns="0" tIns="0" bIns="0" anchor="t">
            <a:noAutofit/>
          </a:bodyPr>
          <a:lstStyle/>
          <a:p>
            <a:pPr algn="l">
              <a:lnSpc>
                <a:spcPct val="108000"/>
              </a:lnSpc>
            </a:pPr>
            <a:r>
              <a:rPr sz="3600" b="1" i="0">
                <a:solidFill>
                  <a:srgbClr val="0E1726"/>
                </a:solidFill>
                <a:latin typeface="Arial"/>
              </a:rPr>
              <a:t>Reporting a problem is harder than it should be</a:t>
            </a:r>
          </a:p>
        </p:txBody>
      </p:sp>
      <p:grpSp>
        <p:nvGrpSpPr>
          <p:cNvPr id="4" name="Problem card 1"/>
          <p:cNvGrpSpPr/>
          <p:nvPr/>
        </p:nvGrpSpPr>
        <p:grpSpPr>
          <a:xfrm>
            <a:off x="548640" y="1737360"/>
            <a:ext cx="3611880" cy="4343400"/>
            <a:chOff x="548640" y="1737360"/>
            <a:chExt cx="3611880" cy="4343400"/>
          </a:xfrm>
        </p:grpSpPr>
        <p:sp>
          <p:nvSpPr>
            <p:cNvPr id="5" name="Rounded Rectangle 4"/>
            <p:cNvSpPr/>
            <p:nvPr/>
          </p:nvSpPr>
          <p:spPr>
            <a:xfrm>
              <a:off x="548640" y="1737360"/>
              <a:ext cx="3611880" cy="4343400"/>
            </a:xfrm>
            <a:prstGeom prst="roundRect">
              <a:avLst>
                <a:gd name="adj" fmla="val 3544"/>
              </a:avLst>
            </a:prstGeom>
            <a:solidFill>
              <a:srgbClr val="FFFFFF"/>
            </a:solidFill>
            <a:ln w="12700">
              <a:solidFill>
                <a:srgbClr val="C6D0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965960"/>
              <a:ext cx="3108960" cy="822960"/>
            </a:xfrm>
            <a:prstGeom prst="rect">
              <a:avLst/>
            </a:prstGeom>
            <a:noFill/>
          </p:spPr>
          <p:txBody>
            <a:bodyPr wrap="square" lIns="0" rIns="0" tIns="0" bIns="0" anchor="b">
              <a:noAutofit/>
            </a:bodyPr>
            <a:lstStyle/>
            <a:p>
              <a:pPr algn="l">
                <a:lnSpc>
                  <a:spcPct val="108000"/>
                </a:lnSpc>
              </a:pPr>
              <a:r>
                <a:rPr sz="4000" b="1" i="0">
                  <a:solidFill>
                    <a:srgbClr val="0369A1"/>
                  </a:solidFill>
                  <a:latin typeface="Arial"/>
                </a:rPr>
                <a:t>~700</a:t>
              </a:r>
            </a:p>
          </p:txBody>
        </p:sp>
        <p:sp>
          <p:nvSpPr>
            <p:cNvPr id="7" name="TextBox 6"/>
            <p:cNvSpPr txBox="1"/>
            <p:nvPr/>
          </p:nvSpPr>
          <p:spPr>
            <a:xfrm>
              <a:off x="822959" y="2926080"/>
              <a:ext cx="3108960" cy="2103120"/>
            </a:xfrm>
            <a:prstGeom prst="rect">
              <a:avLst/>
            </a:prstGeom>
            <a:noFill/>
          </p:spPr>
          <p:txBody>
            <a:bodyPr wrap="square" lIns="0" rIns="0" tIns="0" bIns="0" anchor="t">
              <a:noAutofit/>
            </a:bodyPr>
            <a:lstStyle/>
            <a:p>
              <a:pPr algn="l">
                <a:lnSpc>
                  <a:spcPct val="110000"/>
                </a:lnSpc>
              </a:pPr>
              <a:r>
                <a:rPr sz="2200" b="0" i="0">
                  <a:solidFill>
                    <a:srgbClr val="0E1726"/>
                  </a:solidFill>
                  <a:latin typeface="Arial"/>
                </a:rPr>
                <a:t>services run by Southampton City Council.</a:t>
              </a:r>
            </a:p>
          </p:txBody>
        </p:sp>
        <p:sp>
          <p:nvSpPr>
            <p:cNvPr id="8" name="TextBox 7"/>
            <p:cNvSpPr txBox="1"/>
            <p:nvPr/>
          </p:nvSpPr>
          <p:spPr>
            <a:xfrm>
              <a:off x="822959" y="5120640"/>
              <a:ext cx="3108960" cy="777240"/>
            </a:xfrm>
            <a:prstGeom prst="rect">
              <a:avLst/>
            </a:prstGeom>
            <a:noFill/>
          </p:spPr>
          <p:txBody>
            <a:bodyPr wrap="square" lIns="0" rIns="0" tIns="0" bIns="0" anchor="b">
              <a:noAutofit/>
            </a:bodyPr>
            <a:lstStyle/>
            <a:p>
              <a:pPr algn="l">
                <a:lnSpc>
                  <a:spcPct val="108000"/>
                </a:lnSpc>
              </a:pPr>
              <a:r>
                <a:rPr sz="1800" b="0" i="0">
                  <a:solidFill>
                    <a:srgbClr val="556273"/>
                  </a:solidFill>
                  <a:latin typeface="Arial"/>
                </a:rPr>
                <a:t>About Southampton City Council, checked 17 Oct 2026</a:t>
              </a:r>
            </a:p>
          </p:txBody>
        </p:sp>
      </p:grpSp>
      <p:grpSp>
        <p:nvGrpSpPr>
          <p:cNvPr id="9" name="Problem card 2"/>
          <p:cNvGrpSpPr/>
          <p:nvPr/>
        </p:nvGrpSpPr>
        <p:grpSpPr>
          <a:xfrm>
            <a:off x="4288536" y="1737360"/>
            <a:ext cx="3611880" cy="4343400"/>
            <a:chOff x="4288536" y="1737360"/>
            <a:chExt cx="3611880" cy="4343400"/>
          </a:xfrm>
        </p:grpSpPr>
        <p:sp>
          <p:nvSpPr>
            <p:cNvPr id="10" name="Rounded Rectangle 9"/>
            <p:cNvSpPr/>
            <p:nvPr/>
          </p:nvSpPr>
          <p:spPr>
            <a:xfrm>
              <a:off x="4288536" y="1737360"/>
              <a:ext cx="3611880" cy="4343400"/>
            </a:xfrm>
            <a:prstGeom prst="roundRect">
              <a:avLst>
                <a:gd name="adj" fmla="val 3544"/>
              </a:avLst>
            </a:prstGeom>
            <a:solidFill>
              <a:srgbClr val="FFFFFF"/>
            </a:solidFill>
            <a:ln w="12700">
              <a:solidFill>
                <a:srgbClr val="C6D0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2855" y="1965960"/>
              <a:ext cx="3108960" cy="822960"/>
            </a:xfrm>
            <a:prstGeom prst="rect">
              <a:avLst/>
            </a:prstGeom>
            <a:noFill/>
          </p:spPr>
          <p:txBody>
            <a:bodyPr wrap="square" lIns="0" rIns="0" tIns="0" bIns="0" anchor="b">
              <a:noAutofit/>
            </a:bodyPr>
            <a:lstStyle/>
            <a:p>
              <a:pPr algn="l">
                <a:lnSpc>
                  <a:spcPct val="108000"/>
                </a:lnSpc>
              </a:pPr>
              <a:r>
                <a:rPr sz="3000" b="1" i="0">
                  <a:solidFill>
                    <a:srgbClr val="0369A1"/>
                  </a:solidFill>
                  <a:latin typeface="Arial"/>
                </a:rPr>
                <a:t>Which council?</a:t>
              </a:r>
            </a:p>
          </p:txBody>
        </p:sp>
        <p:sp>
          <p:nvSpPr>
            <p:cNvPr id="12" name="TextBox 11"/>
            <p:cNvSpPr txBox="1"/>
            <p:nvPr/>
          </p:nvSpPr>
          <p:spPr>
            <a:xfrm>
              <a:off x="4562855" y="2926080"/>
              <a:ext cx="3108960" cy="2103120"/>
            </a:xfrm>
            <a:prstGeom prst="rect">
              <a:avLst/>
            </a:prstGeom>
            <a:noFill/>
          </p:spPr>
          <p:txBody>
            <a:bodyPr wrap="square" lIns="0" rIns="0" tIns="0" bIns="0" anchor="t">
              <a:noAutofit/>
            </a:bodyPr>
            <a:lstStyle/>
            <a:p>
              <a:pPr algn="l">
                <a:lnSpc>
                  <a:spcPct val="110000"/>
                </a:lnSpc>
              </a:pPr>
              <a:r>
                <a:rPr sz="2200" b="0" i="0">
                  <a:solidFill>
                    <a:srgbClr val="0E1726"/>
                  </a:solidFill>
                  <a:latin typeface="Arial"/>
                </a:rPr>
                <a:t>Some SO16, SO18 and SO19 addresses are outside the city. A postcode alone doesn't say.</a:t>
              </a:r>
            </a:p>
          </p:txBody>
        </p:sp>
        <p:sp>
          <p:nvSpPr>
            <p:cNvPr id="13" name="TextBox 12"/>
            <p:cNvSpPr txBox="1"/>
            <p:nvPr/>
          </p:nvSpPr>
          <p:spPr>
            <a:xfrm>
              <a:off x="4562855" y="5120640"/>
              <a:ext cx="3108960" cy="777240"/>
            </a:xfrm>
            <a:prstGeom prst="rect">
              <a:avLst/>
            </a:prstGeom>
            <a:noFill/>
          </p:spPr>
          <p:txBody>
            <a:bodyPr wrap="square" lIns="0" rIns="0" tIns="0" bIns="0" anchor="b">
              <a:noAutofit/>
            </a:bodyPr>
            <a:lstStyle/>
            <a:p>
              <a:pPr algn="l">
                <a:lnSpc>
                  <a:spcPct val="108000"/>
                </a:lnSpc>
              </a:pPr>
              <a:r>
                <a:rPr sz="1800" b="0" i="0">
                  <a:solidFill>
                    <a:srgbClr val="556273"/>
                  </a:solidFill>
                  <a:latin typeface="Arial"/>
                </a:rPr>
                <a:t>Council's missed bin form, checked 17 Oct 2026</a:t>
              </a:r>
            </a:p>
          </p:txBody>
        </p:sp>
      </p:grpSp>
      <p:grpSp>
        <p:nvGrpSpPr>
          <p:cNvPr id="14" name="Problem card 3"/>
          <p:cNvGrpSpPr/>
          <p:nvPr/>
        </p:nvGrpSpPr>
        <p:grpSpPr>
          <a:xfrm>
            <a:off x="8028431" y="1737360"/>
            <a:ext cx="3611880" cy="4343400"/>
            <a:chOff x="8028431" y="1737360"/>
            <a:chExt cx="3611880" cy="4343400"/>
          </a:xfrm>
        </p:grpSpPr>
        <p:sp>
          <p:nvSpPr>
            <p:cNvPr id="15" name="Rounded Rectangle 14"/>
            <p:cNvSpPr/>
            <p:nvPr/>
          </p:nvSpPr>
          <p:spPr>
            <a:xfrm>
              <a:off x="8028431" y="1737360"/>
              <a:ext cx="3611880" cy="4343400"/>
            </a:xfrm>
            <a:prstGeom prst="roundRect">
              <a:avLst>
                <a:gd name="adj" fmla="val 3544"/>
              </a:avLst>
            </a:prstGeom>
            <a:solidFill>
              <a:srgbClr val="FFFFFF"/>
            </a:solidFill>
            <a:ln w="12700">
              <a:solidFill>
                <a:srgbClr val="C6D0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2752" y="1965960"/>
              <a:ext cx="3108960" cy="822960"/>
            </a:xfrm>
            <a:prstGeom prst="rect">
              <a:avLst/>
            </a:prstGeom>
            <a:noFill/>
          </p:spPr>
          <p:txBody>
            <a:bodyPr wrap="square" lIns="0" rIns="0" tIns="0" bIns="0" anchor="b">
              <a:noAutofit/>
            </a:bodyPr>
            <a:lstStyle/>
            <a:p>
              <a:pPr algn="l">
                <a:lnSpc>
                  <a:spcPct val="108000"/>
                </a:lnSpc>
              </a:pPr>
              <a:r>
                <a:rPr sz="3000" b="1" i="0">
                  <a:solidFill>
                    <a:srgbClr val="0369A1"/>
                  </a:solidFill>
                  <a:latin typeface="Arial"/>
                </a:rPr>
                <a:t>Again and again</a:t>
              </a:r>
            </a:p>
          </p:txBody>
        </p:sp>
        <p:sp>
          <p:nvSpPr>
            <p:cNvPr id="17" name="TextBox 16"/>
            <p:cNvSpPr txBox="1"/>
            <p:nvPr/>
          </p:nvSpPr>
          <p:spPr>
            <a:xfrm>
              <a:off x="8302752" y="2926080"/>
              <a:ext cx="3108960" cy="2103120"/>
            </a:xfrm>
            <a:prstGeom prst="rect">
              <a:avLst/>
            </a:prstGeom>
            <a:noFill/>
          </p:spPr>
          <p:txBody>
            <a:bodyPr wrap="square" lIns="0" rIns="0" tIns="0" bIns="0" anchor="t">
              <a:noAutofit/>
            </a:bodyPr>
            <a:lstStyle/>
            <a:p>
              <a:pPr algn="l">
                <a:lnSpc>
                  <a:spcPct val="110000"/>
                </a:lnSpc>
              </a:pPr>
              <a:r>
                <a:rPr sz="2200" b="0" i="0">
                  <a:solidFill>
                    <a:srgbClr val="0E1726"/>
                  </a:solidFill>
                  <a:latin typeface="Arial"/>
                </a:rPr>
                <a:t>“Residents report fly-tipping, potholes and broken street lights as photos and free text, often several times for the same problem.”</a:t>
              </a:r>
            </a:p>
          </p:txBody>
        </p:sp>
        <p:sp>
          <p:nvSpPr>
            <p:cNvPr id="18" name="TextBox 17"/>
            <p:cNvSpPr txBox="1"/>
            <p:nvPr/>
          </p:nvSpPr>
          <p:spPr>
            <a:xfrm>
              <a:off x="8302752" y="5120640"/>
              <a:ext cx="3108960" cy="777240"/>
            </a:xfrm>
            <a:prstGeom prst="rect">
              <a:avLst/>
            </a:prstGeom>
            <a:noFill/>
          </p:spPr>
          <p:txBody>
            <a:bodyPr wrap="square" lIns="0" rIns="0" tIns="0" bIns="0" anchor="b">
              <a:noAutofit/>
            </a:bodyPr>
            <a:lstStyle/>
            <a:p>
              <a:pPr algn="l">
                <a:lnSpc>
                  <a:spcPct val="108000"/>
                </a:lnSpc>
              </a:pPr>
              <a:r>
                <a:rPr sz="1800" b="0" i="0">
                  <a:solidFill>
                    <a:srgbClr val="556273"/>
                  </a:solidFill>
                  <a:latin typeface="Arial"/>
                </a:rPr>
                <a:t>SotonShip 2026 Southampton City brief</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kicker"/>
          <p:cNvSpPr txBox="1"/>
          <p:nvPr/>
        </p:nvSpPr>
        <p:spPr>
          <a:xfrm>
            <a:off x="548640" y="384048"/>
            <a:ext cx="8229600" cy="365760"/>
          </a:xfrm>
          <a:prstGeom prst="rect">
            <a:avLst/>
          </a:prstGeom>
          <a:noFill/>
        </p:spPr>
        <p:txBody>
          <a:bodyPr wrap="square" lIns="0" rIns="0" tIns="0" bIns="0" anchor="t">
            <a:noAutofit/>
          </a:bodyPr>
          <a:lstStyle/>
          <a:p>
            <a:pPr algn="l">
              <a:lnSpc>
                <a:spcPct val="108000"/>
              </a:lnSpc>
            </a:pPr>
            <a:r>
              <a:rPr sz="1800" b="1" i="0">
                <a:solidFill>
                  <a:srgbClr val="0369A1"/>
                </a:solidFill>
                <a:latin typeface="Arial"/>
              </a:rPr>
              <a:t>THE IDEA</a:t>
            </a:r>
          </a:p>
        </p:txBody>
      </p:sp>
      <p:sp>
        <p:nvSpPr>
          <p:cNvPr id="3" name="!!title"/>
          <p:cNvSpPr txBox="1"/>
          <p:nvPr/>
        </p:nvSpPr>
        <p:spPr>
          <a:xfrm>
            <a:off x="548640" y="713232"/>
            <a:ext cx="11064240" cy="685800"/>
          </a:xfrm>
          <a:prstGeom prst="rect">
            <a:avLst/>
          </a:prstGeom>
          <a:noFill/>
        </p:spPr>
        <p:txBody>
          <a:bodyPr wrap="square" lIns="0" rIns="0" tIns="0" bIns="0" anchor="t">
            <a:noAutofit/>
          </a:bodyPr>
          <a:lstStyle/>
          <a:p>
            <a:pPr algn="l">
              <a:lnSpc>
                <a:spcPct val="108000"/>
              </a:lnSpc>
            </a:pPr>
            <a:r>
              <a:rPr sz="3600" b="1" i="0">
                <a:solidFill>
                  <a:srgbClr val="0E1726"/>
                </a:solidFill>
                <a:latin typeface="Arial"/>
              </a:rPr>
              <a:t>Message it like a friend, in the app you already use</a:t>
            </a:r>
          </a:p>
        </p:txBody>
      </p:sp>
      <p:grpSp>
        <p:nvGrpSpPr>
          <p:cNvPr id="4" name="Idea row 1"/>
          <p:cNvGrpSpPr/>
          <p:nvPr/>
        </p:nvGrpSpPr>
        <p:grpSpPr>
          <a:xfrm>
            <a:off x="548640" y="1810512"/>
            <a:ext cx="6766560" cy="1252728"/>
            <a:chOff x="548640" y="1810512"/>
            <a:chExt cx="6766560" cy="1252728"/>
          </a:xfrm>
        </p:grpSpPr>
        <p:sp>
          <p:nvSpPr>
            <p:cNvPr id="5" name="Oval 4"/>
            <p:cNvSpPr/>
            <p:nvPr/>
          </p:nvSpPr>
          <p:spPr>
            <a:xfrm>
              <a:off x="548640" y="1828800"/>
              <a:ext cx="640080" cy="640080"/>
            </a:xfrm>
            <a:prstGeom prst="ellipse">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8000"/>
                </a:lnSpc>
              </a:pPr>
              <a:r>
                <a:rPr sz="2400" b="1" i="0">
                  <a:solidFill>
                    <a:srgbClr val="FFFFFF"/>
                  </a:solidFill>
                  <a:latin typeface="Arial"/>
                </a:rPr>
                <a:t>1</a:t>
              </a:r>
            </a:p>
          </p:txBody>
        </p:sp>
        <p:sp>
          <p:nvSpPr>
            <p:cNvPr id="6" name="TextBox 5"/>
            <p:cNvSpPr txBox="1"/>
            <p:nvPr/>
          </p:nvSpPr>
          <p:spPr>
            <a:xfrm>
              <a:off x="1463040" y="1810512"/>
              <a:ext cx="5852160" cy="457200"/>
            </a:xfrm>
            <a:prstGeom prst="rect">
              <a:avLst/>
            </a:prstGeom>
            <a:noFill/>
          </p:spPr>
          <p:txBody>
            <a:bodyPr wrap="square" lIns="0" rIns="0" tIns="0" bIns="0" anchor="t">
              <a:noAutofit/>
            </a:bodyPr>
            <a:lstStyle/>
            <a:p>
              <a:pPr algn="l">
                <a:lnSpc>
                  <a:spcPct val="108000"/>
                </a:lnSpc>
              </a:pPr>
              <a:r>
                <a:rPr sz="2600" b="1" i="0">
                  <a:solidFill>
                    <a:srgbClr val="0E1726"/>
                  </a:solidFill>
                  <a:latin typeface="Arial"/>
                </a:rPr>
                <a:t>Nothing to install</a:t>
              </a:r>
            </a:p>
          </p:txBody>
        </p:sp>
        <p:sp>
          <p:nvSpPr>
            <p:cNvPr id="7" name="TextBox 6"/>
            <p:cNvSpPr txBox="1"/>
            <p:nvPr/>
          </p:nvSpPr>
          <p:spPr>
            <a:xfrm>
              <a:off x="1463040" y="2286000"/>
              <a:ext cx="5852160" cy="777240"/>
            </a:xfrm>
            <a:prstGeom prst="rect">
              <a:avLst/>
            </a:prstGeom>
            <a:noFill/>
          </p:spPr>
          <p:txBody>
            <a:bodyPr wrap="square" lIns="0" rIns="0" tIns="0" bIns="0" anchor="t">
              <a:noAutofit/>
            </a:bodyPr>
            <a:lstStyle/>
            <a:p>
              <a:pPr algn="l">
                <a:lnSpc>
                  <a:spcPct val="108000"/>
                </a:lnSpc>
              </a:pPr>
              <a:r>
                <a:rPr sz="2000" b="0" i="0">
                  <a:solidFill>
                    <a:srgbClr val="3B4859"/>
                  </a:solidFill>
                  <a:latin typeface="Arial"/>
                </a:rPr>
                <a:t>It's a contact in Messages. Text it like anyone else.</a:t>
              </a:r>
            </a:p>
          </p:txBody>
        </p:sp>
      </p:grpSp>
      <p:grpSp>
        <p:nvGrpSpPr>
          <p:cNvPr id="8" name="Idea row 2"/>
          <p:cNvGrpSpPr/>
          <p:nvPr/>
        </p:nvGrpSpPr>
        <p:grpSpPr>
          <a:xfrm>
            <a:off x="548640" y="3227832"/>
            <a:ext cx="6766560" cy="1252728"/>
            <a:chOff x="548640" y="3227832"/>
            <a:chExt cx="6766560" cy="1252728"/>
          </a:xfrm>
        </p:grpSpPr>
        <p:sp>
          <p:nvSpPr>
            <p:cNvPr id="9" name="Oval 8"/>
            <p:cNvSpPr/>
            <p:nvPr/>
          </p:nvSpPr>
          <p:spPr>
            <a:xfrm>
              <a:off x="548640" y="3246120"/>
              <a:ext cx="640080" cy="640080"/>
            </a:xfrm>
            <a:prstGeom prst="ellipse">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8000"/>
                </a:lnSpc>
              </a:pPr>
              <a:r>
                <a:rPr sz="2400" b="1" i="0">
                  <a:solidFill>
                    <a:srgbClr val="FFFFFF"/>
                  </a:solidFill>
                  <a:latin typeface="Arial"/>
                </a:rPr>
                <a:t>2</a:t>
              </a:r>
            </a:p>
          </p:txBody>
        </p:sp>
        <p:sp>
          <p:nvSpPr>
            <p:cNvPr id="10" name="TextBox 9"/>
            <p:cNvSpPr txBox="1"/>
            <p:nvPr/>
          </p:nvSpPr>
          <p:spPr>
            <a:xfrm>
              <a:off x="1463040" y="3227832"/>
              <a:ext cx="5852160" cy="457200"/>
            </a:xfrm>
            <a:prstGeom prst="rect">
              <a:avLst/>
            </a:prstGeom>
            <a:noFill/>
          </p:spPr>
          <p:txBody>
            <a:bodyPr wrap="square" lIns="0" rIns="0" tIns="0" bIns="0" anchor="t">
              <a:noAutofit/>
            </a:bodyPr>
            <a:lstStyle/>
            <a:p>
              <a:pPr algn="l">
                <a:lnSpc>
                  <a:spcPct val="108000"/>
                </a:lnSpc>
              </a:pPr>
              <a:r>
                <a:rPr sz="2600" b="1" i="0">
                  <a:solidFill>
                    <a:srgbClr val="0E1726"/>
                  </a:solidFill>
                  <a:latin typeface="Arial"/>
                </a:rPr>
                <a:t>Words or a photo</a:t>
              </a:r>
            </a:p>
          </p:txBody>
        </p:sp>
        <p:sp>
          <p:nvSpPr>
            <p:cNvPr id="11" name="TextBox 10"/>
            <p:cNvSpPr txBox="1"/>
            <p:nvPr/>
          </p:nvSpPr>
          <p:spPr>
            <a:xfrm>
              <a:off x="1463040" y="3703320"/>
              <a:ext cx="5852160" cy="777240"/>
            </a:xfrm>
            <a:prstGeom prst="rect">
              <a:avLst/>
            </a:prstGeom>
            <a:noFill/>
          </p:spPr>
          <p:txBody>
            <a:bodyPr wrap="square" lIns="0" rIns="0" tIns="0" bIns="0" anchor="t">
              <a:noAutofit/>
            </a:bodyPr>
            <a:lstStyle/>
            <a:p>
              <a:pPr algn="l">
                <a:lnSpc>
                  <a:spcPct val="108000"/>
                </a:lnSpc>
              </a:pPr>
              <a:r>
                <a:rPr sz="2000" b="0" i="0">
                  <a:solidFill>
                    <a:srgbClr val="3B4859"/>
                  </a:solidFill>
                  <a:latin typeface="Arial"/>
                </a:rPr>
                <a:t>Say what and where. It asks only for what's missing, in five messages at most.</a:t>
              </a:r>
            </a:p>
          </p:txBody>
        </p:sp>
      </p:grpSp>
      <p:grpSp>
        <p:nvGrpSpPr>
          <p:cNvPr id="12" name="Idea row 3"/>
          <p:cNvGrpSpPr/>
          <p:nvPr/>
        </p:nvGrpSpPr>
        <p:grpSpPr>
          <a:xfrm>
            <a:off x="548640" y="4645152"/>
            <a:ext cx="6766560" cy="1252728"/>
            <a:chOff x="548640" y="4645152"/>
            <a:chExt cx="6766560" cy="1252728"/>
          </a:xfrm>
        </p:grpSpPr>
        <p:sp>
          <p:nvSpPr>
            <p:cNvPr id="13" name="Oval 12"/>
            <p:cNvSpPr/>
            <p:nvPr/>
          </p:nvSpPr>
          <p:spPr>
            <a:xfrm>
              <a:off x="548640" y="4663440"/>
              <a:ext cx="640080" cy="640080"/>
            </a:xfrm>
            <a:prstGeom prst="ellipse">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8000"/>
                </a:lnSpc>
              </a:pPr>
              <a:r>
                <a:rPr sz="2400" b="1" i="0">
                  <a:solidFill>
                    <a:srgbClr val="FFFFFF"/>
                  </a:solidFill>
                  <a:latin typeface="Arial"/>
                </a:rPr>
                <a:t>3</a:t>
              </a:r>
            </a:p>
          </p:txBody>
        </p:sp>
        <p:sp>
          <p:nvSpPr>
            <p:cNvPr id="14" name="TextBox 13"/>
            <p:cNvSpPr txBox="1"/>
            <p:nvPr/>
          </p:nvSpPr>
          <p:spPr>
            <a:xfrm>
              <a:off x="1463040" y="4645152"/>
              <a:ext cx="5852160" cy="457200"/>
            </a:xfrm>
            <a:prstGeom prst="rect">
              <a:avLst/>
            </a:prstGeom>
            <a:noFill/>
          </p:spPr>
          <p:txBody>
            <a:bodyPr wrap="square" lIns="0" rIns="0" tIns="0" bIns="0" anchor="t">
              <a:noAutofit/>
            </a:bodyPr>
            <a:lstStyle/>
            <a:p>
              <a:pPr algn="l">
                <a:lnSpc>
                  <a:spcPct val="108000"/>
                </a:lnSpc>
              </a:pPr>
              <a:r>
                <a:rPr sz="2600" b="1" i="0">
                  <a:solidFill>
                    <a:srgbClr val="0E1726"/>
                  </a:solidFill>
                  <a:latin typeface="Arial"/>
                </a:rPr>
                <a:t>A private link back</a:t>
              </a:r>
            </a:p>
          </p:txBody>
        </p:sp>
        <p:sp>
          <p:nvSpPr>
            <p:cNvPr id="15" name="TextBox 14"/>
            <p:cNvSpPr txBox="1"/>
            <p:nvPr/>
          </p:nvSpPr>
          <p:spPr>
            <a:xfrm>
              <a:off x="1463040" y="5120640"/>
              <a:ext cx="5852160" cy="777240"/>
            </a:xfrm>
            <a:prstGeom prst="rect">
              <a:avLst/>
            </a:prstGeom>
            <a:noFill/>
          </p:spPr>
          <p:txBody>
            <a:bodyPr wrap="square" lIns="0" rIns="0" tIns="0" bIns="0" anchor="t">
              <a:noAutofit/>
            </a:bodyPr>
            <a:lstStyle/>
            <a:p>
              <a:pPr algn="l">
                <a:lnSpc>
                  <a:spcPct val="108000"/>
                </a:lnSpc>
              </a:pPr>
              <a:r>
                <a:rPr sz="2000" b="0" i="0">
                  <a:solidFill>
                    <a:srgbClr val="3B4859"/>
                  </a:solidFill>
                  <a:latin typeface="Arial"/>
                </a:rPr>
                <a:t>One report is saved, and the resident gets a link to follow it.</a:t>
              </a:r>
            </a:p>
          </p:txBody>
        </p:sp>
      </p:grpSp>
      <p:sp>
        <p:nvSpPr>
          <p:cNvPr id="16" name="Rounded Rectangle 15"/>
          <p:cNvSpPr/>
          <p:nvPr/>
        </p:nvSpPr>
        <p:spPr>
          <a:xfrm>
            <a:off x="8001000" y="1645920"/>
            <a:ext cx="3639312" cy="4206240"/>
          </a:xfrm>
          <a:prstGeom prst="roundRect">
            <a:avLst>
              <a:gd name="adj" fmla="val 10552"/>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10727" y="1755648"/>
            <a:ext cx="3419856" cy="3986783"/>
          </a:xfrm>
          <a:prstGeom prst="roundRect">
            <a:avLst>
              <a:gd name="adj" fmla="val 855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1920240"/>
            <a:ext cx="3273552" cy="320040"/>
          </a:xfrm>
          <a:prstGeom prst="rect">
            <a:avLst/>
          </a:prstGeom>
          <a:noFill/>
        </p:spPr>
        <p:txBody>
          <a:bodyPr wrap="square" lIns="0" rIns="0" tIns="0" bIns="0" anchor="t">
            <a:noAutofit/>
          </a:bodyPr>
          <a:lstStyle/>
          <a:p>
            <a:pPr algn="ctr">
              <a:lnSpc>
                <a:spcPct val="108000"/>
              </a:lnSpc>
            </a:pPr>
            <a:r>
              <a:rPr sz="1800" b="1" i="0">
                <a:solidFill>
                  <a:srgbClr val="3B4859"/>
                </a:solidFill>
                <a:latin typeface="Arial"/>
              </a:rPr>
              <a:t>Kerbside</a:t>
            </a:r>
          </a:p>
        </p:txBody>
      </p:sp>
      <p:sp>
        <p:nvSpPr>
          <p:cNvPr id="19" name="Rectangle 18"/>
          <p:cNvSpPr/>
          <p:nvPr/>
        </p:nvSpPr>
        <p:spPr>
          <a:xfrm>
            <a:off x="8110727" y="2359152"/>
            <a:ext cx="3419856" cy="13716"/>
          </a:xfrm>
          <a:prstGeom prst="rect">
            <a:avLst/>
          </a:prstGeom>
          <a:solidFill>
            <a:srgbClr val="C6D0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503920" y="2560320"/>
            <a:ext cx="2907791" cy="868680"/>
          </a:xfrm>
          <a:prstGeom prst="roundRect">
            <a:avLst>
              <a:gd name="adj" fmla="val 23157"/>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46304" bIns="146304">
            <a:noAutofit/>
          </a:bodyPr>
          <a:lstStyle/>
          <a:p>
            <a:pPr algn="l">
              <a:lnSpc>
                <a:spcPct val="108000"/>
              </a:lnSpc>
            </a:pPr>
            <a:r>
              <a:rPr sz="1800" b="0" i="0">
                <a:solidFill>
                  <a:srgbClr val="FFFFFF"/>
                </a:solidFill>
                <a:latin typeface="Arial"/>
              </a:rPr>
              <a:t>Someone's dumped a mattress on Lawn Road</a:t>
            </a:r>
          </a:p>
        </p:txBody>
      </p:sp>
      <p:sp>
        <p:nvSpPr>
          <p:cNvPr id="21" name="Rounded Rectangle 20"/>
          <p:cNvSpPr/>
          <p:nvPr/>
        </p:nvSpPr>
        <p:spPr>
          <a:xfrm>
            <a:off x="8202168" y="3611880"/>
            <a:ext cx="3236976" cy="1508760"/>
          </a:xfrm>
          <a:prstGeom prst="roundRect">
            <a:avLst>
              <a:gd name="adj" fmla="val 13333"/>
            </a:avLst>
          </a:prstGeom>
          <a:solidFill>
            <a:srgbClr val="E9EC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46304" bIns="146304">
            <a:noAutofit/>
          </a:bodyPr>
          <a:lstStyle/>
          <a:p>
            <a:pPr algn="l">
              <a:lnSpc>
                <a:spcPct val="105000"/>
              </a:lnSpc>
            </a:pPr>
            <a:r>
              <a:rPr sz="1800" b="0" i="0">
                <a:solidFill>
                  <a:srgbClr val="0E1726"/>
                </a:solidFill>
                <a:latin typeface="Arial"/>
              </a:rPr>
              <a:t>Logged: fly-tipping, Lawn Road.</a:t>
            </a:r>
          </a:p>
          <a:p>
            <a:pPr algn="l">
              <a:lnSpc>
                <a:spcPct val="105000"/>
              </a:lnSpc>
            </a:pPr>
            <a:r>
              <a:rPr sz="1800" b="0" i="0">
                <a:solidFill>
                  <a:srgbClr val="0E1726"/>
                </a:solidFill>
                <a:latin typeface="Arial"/>
              </a:rPr>
              <a:t>It hasn't gone to the council yet.</a:t>
            </a:r>
          </a:p>
          <a:p>
            <a:pPr algn="l">
              <a:lnSpc>
                <a:spcPct val="105000"/>
              </a:lnSpc>
            </a:pPr>
            <a:r>
              <a:rPr sz="1800" b="1" i="0">
                <a:solidFill>
                  <a:srgbClr val="0369A1"/>
                </a:solidFill>
                <a:latin typeface="Arial"/>
              </a:rPr>
              <a:t>Follow it ›</a:t>
            </a:r>
          </a:p>
        </p:txBody>
      </p:sp>
      <p:sp>
        <p:nvSpPr>
          <p:cNvPr id="22" name="TextBox 21"/>
          <p:cNvSpPr txBox="1"/>
          <p:nvPr/>
        </p:nvSpPr>
        <p:spPr>
          <a:xfrm>
            <a:off x="8001000" y="5943599"/>
            <a:ext cx="3639312" cy="365760"/>
          </a:xfrm>
          <a:prstGeom prst="rect">
            <a:avLst/>
          </a:prstGeom>
          <a:noFill/>
        </p:spPr>
        <p:txBody>
          <a:bodyPr wrap="square" lIns="0" rIns="0" tIns="0" bIns="0" anchor="t">
            <a:noAutofit/>
          </a:bodyPr>
          <a:lstStyle/>
          <a:p>
            <a:pPr algn="ctr">
              <a:lnSpc>
                <a:spcPct val="108000"/>
              </a:lnSpc>
            </a:pPr>
            <a:r>
              <a:rPr sz="1800" b="0" i="0">
                <a:solidFill>
                  <a:srgbClr val="556273"/>
                </a:solidFill>
                <a:latin typeface="Arial"/>
              </a:rPr>
              <a:t>Real reply text, shortened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kicker"/>
          <p:cNvSpPr txBox="1"/>
          <p:nvPr/>
        </p:nvSpPr>
        <p:spPr>
          <a:xfrm>
            <a:off x="548640" y="384048"/>
            <a:ext cx="8229600" cy="365760"/>
          </a:xfrm>
          <a:prstGeom prst="rect">
            <a:avLst/>
          </a:prstGeom>
          <a:noFill/>
        </p:spPr>
        <p:txBody>
          <a:bodyPr wrap="square" lIns="0" rIns="0" tIns="0" bIns="0" anchor="t">
            <a:noAutofit/>
          </a:bodyPr>
          <a:lstStyle/>
          <a:p>
            <a:pPr algn="l">
              <a:lnSpc>
                <a:spcPct val="108000"/>
              </a:lnSpc>
            </a:pPr>
            <a:r>
              <a:rPr sz="1800" b="1" i="0">
                <a:solidFill>
                  <a:srgbClr val="0369A1"/>
                </a:solidFill>
                <a:latin typeface="Arial"/>
              </a:rPr>
              <a:t>HOW IT WORKS</a:t>
            </a:r>
          </a:p>
        </p:txBody>
      </p:sp>
      <p:sp>
        <p:nvSpPr>
          <p:cNvPr id="3" name="!!title"/>
          <p:cNvSpPr txBox="1"/>
          <p:nvPr/>
        </p:nvSpPr>
        <p:spPr>
          <a:xfrm>
            <a:off x="548640" y="713232"/>
            <a:ext cx="11064240" cy="685800"/>
          </a:xfrm>
          <a:prstGeom prst="rect">
            <a:avLst/>
          </a:prstGeom>
          <a:noFill/>
        </p:spPr>
        <p:txBody>
          <a:bodyPr wrap="square" lIns="0" rIns="0" tIns="0" bIns="0" anchor="t">
            <a:noAutofit/>
          </a:bodyPr>
          <a:lstStyle/>
          <a:p>
            <a:pPr algn="l">
              <a:lnSpc>
                <a:spcPct val="108000"/>
              </a:lnSpc>
            </a:pPr>
            <a:r>
              <a:rPr sz="3600" b="1" i="0">
                <a:solidFill>
                  <a:srgbClr val="0E1726"/>
                </a:solidFill>
                <a:latin typeface="Arial"/>
              </a:rPr>
              <a:t>One message in, one report out</a:t>
            </a:r>
          </a:p>
        </p:txBody>
      </p:sp>
      <p:grpSp>
        <p:nvGrpSpPr>
          <p:cNvPr id="4" name="Step 1"/>
          <p:cNvGrpSpPr/>
          <p:nvPr/>
        </p:nvGrpSpPr>
        <p:grpSpPr>
          <a:xfrm>
            <a:off x="548640" y="1645920"/>
            <a:ext cx="2514600" cy="1783080"/>
            <a:chOff x="548640" y="1645920"/>
            <a:chExt cx="2514600" cy="1783080"/>
          </a:xfrm>
        </p:grpSpPr>
        <p:sp>
          <p:nvSpPr>
            <p:cNvPr id="5" name="Rounded Rectangle 4"/>
            <p:cNvSpPr/>
            <p:nvPr/>
          </p:nvSpPr>
          <p:spPr>
            <a:xfrm>
              <a:off x="548640" y="1645920"/>
              <a:ext cx="2514600" cy="1783080"/>
            </a:xfrm>
            <a:prstGeom prst="roundRect">
              <a:avLst>
                <a:gd name="adj" fmla="val 7179"/>
              </a:avLst>
            </a:prstGeom>
            <a:solidFill>
              <a:srgbClr val="FFFFFF"/>
            </a:solidFill>
            <a:ln w="12700">
              <a:solidFill>
                <a:srgbClr val="C6D0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13232" y="1810512"/>
              <a:ext cx="420624" cy="420624"/>
            </a:xfrm>
            <a:prstGeom prst="ellipse">
              <a:avLst/>
            </a:prstGeom>
            <a:solidFill>
              <a:srgbClr val="E2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8000"/>
                </a:lnSpc>
              </a:pPr>
              <a:r>
                <a:rPr sz="2000" b="1" i="0">
                  <a:solidFill>
                    <a:srgbClr val="03507B"/>
                  </a:solidFill>
                  <a:latin typeface="Arial"/>
                </a:rPr>
                <a:t>1</a:t>
              </a:r>
            </a:p>
          </p:txBody>
        </p:sp>
        <p:sp>
          <p:nvSpPr>
            <p:cNvPr id="7" name="TextBox 6"/>
            <p:cNvSpPr txBox="1"/>
            <p:nvPr/>
          </p:nvSpPr>
          <p:spPr>
            <a:xfrm>
              <a:off x="731520" y="2304288"/>
              <a:ext cx="2148840" cy="411480"/>
            </a:xfrm>
            <a:prstGeom prst="rect">
              <a:avLst/>
            </a:prstGeom>
            <a:noFill/>
          </p:spPr>
          <p:txBody>
            <a:bodyPr wrap="square" lIns="0" rIns="0" tIns="0" bIns="0" anchor="t">
              <a:noAutofit/>
            </a:bodyPr>
            <a:lstStyle/>
            <a:p>
              <a:pPr algn="l">
                <a:lnSpc>
                  <a:spcPct val="108000"/>
                </a:lnSpc>
              </a:pPr>
              <a:r>
                <a:rPr sz="2200" b="1" i="0">
                  <a:solidFill>
                    <a:srgbClr val="0E1726"/>
                  </a:solidFill>
                  <a:latin typeface="Arial"/>
                </a:rPr>
                <a:t>Resident</a:t>
              </a:r>
            </a:p>
          </p:txBody>
        </p:sp>
        <p:sp>
          <p:nvSpPr>
            <p:cNvPr id="8" name="TextBox 7"/>
            <p:cNvSpPr txBox="1"/>
            <p:nvPr/>
          </p:nvSpPr>
          <p:spPr>
            <a:xfrm>
              <a:off x="731520" y="2743200"/>
              <a:ext cx="2148840" cy="640080"/>
            </a:xfrm>
            <a:prstGeom prst="rect">
              <a:avLst/>
            </a:prstGeom>
            <a:noFill/>
          </p:spPr>
          <p:txBody>
            <a:bodyPr wrap="square" lIns="0" rIns="0" tIns="0" bIns="0" anchor="t">
              <a:noAutofit/>
            </a:bodyPr>
            <a:lstStyle/>
            <a:p>
              <a:pPr algn="l">
                <a:lnSpc>
                  <a:spcPct val="108000"/>
                </a:lnSpc>
              </a:pPr>
              <a:r>
                <a:rPr sz="1800" b="0" i="0">
                  <a:solidFill>
                    <a:srgbClr val="3B4859"/>
                  </a:solidFill>
                  <a:latin typeface="Arial"/>
                </a:rPr>
                <a:t>texts on iMessage</a:t>
              </a:r>
            </a:p>
          </p:txBody>
        </p:sp>
      </p:grpSp>
      <p:grpSp>
        <p:nvGrpSpPr>
          <p:cNvPr id="9" name="Step 2"/>
          <p:cNvGrpSpPr/>
          <p:nvPr/>
        </p:nvGrpSpPr>
        <p:grpSpPr>
          <a:xfrm>
            <a:off x="3108960" y="1645920"/>
            <a:ext cx="2813608" cy="1783080"/>
            <a:chOff x="3108960" y="1645920"/>
            <a:chExt cx="2813608" cy="1783080"/>
          </a:xfrm>
        </p:grpSpPr>
        <p:sp>
          <p:nvSpPr>
            <p:cNvPr id="10" name="Rounded Rectangle 9"/>
            <p:cNvSpPr/>
            <p:nvPr/>
          </p:nvSpPr>
          <p:spPr>
            <a:xfrm>
              <a:off x="3407968" y="1645920"/>
              <a:ext cx="2514600" cy="1783080"/>
            </a:xfrm>
            <a:prstGeom prst="roundRect">
              <a:avLst>
                <a:gd name="adj" fmla="val 7179"/>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572560" y="1810512"/>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8000"/>
                </a:lnSpc>
              </a:pPr>
              <a:r>
                <a:rPr sz="2000" b="1" i="0">
                  <a:solidFill>
                    <a:srgbClr val="0369A1"/>
                  </a:solidFill>
                  <a:latin typeface="Arial"/>
                </a:rPr>
                <a:t>2</a:t>
              </a:r>
            </a:p>
          </p:txBody>
        </p:sp>
        <p:sp>
          <p:nvSpPr>
            <p:cNvPr id="12" name="TextBox 11"/>
            <p:cNvSpPr txBox="1"/>
            <p:nvPr/>
          </p:nvSpPr>
          <p:spPr>
            <a:xfrm>
              <a:off x="3590848" y="2304288"/>
              <a:ext cx="2148840" cy="411480"/>
            </a:xfrm>
            <a:prstGeom prst="rect">
              <a:avLst/>
            </a:prstGeom>
            <a:noFill/>
          </p:spPr>
          <p:txBody>
            <a:bodyPr wrap="square" lIns="0" rIns="0" tIns="0" bIns="0" anchor="t">
              <a:noAutofit/>
            </a:bodyPr>
            <a:lstStyle/>
            <a:p>
              <a:pPr algn="l">
                <a:lnSpc>
                  <a:spcPct val="108000"/>
                </a:lnSpc>
              </a:pPr>
              <a:r>
                <a:rPr sz="2200" b="1" i="0">
                  <a:solidFill>
                    <a:srgbClr val="FFFFFF"/>
                  </a:solidFill>
                  <a:latin typeface="Arial"/>
                </a:rPr>
                <a:t>Agent</a:t>
              </a:r>
            </a:p>
          </p:txBody>
        </p:sp>
        <p:sp>
          <p:nvSpPr>
            <p:cNvPr id="13" name="TextBox 12"/>
            <p:cNvSpPr txBox="1"/>
            <p:nvPr/>
          </p:nvSpPr>
          <p:spPr>
            <a:xfrm>
              <a:off x="3590848" y="2743200"/>
              <a:ext cx="2148840" cy="640080"/>
            </a:xfrm>
            <a:prstGeom prst="rect">
              <a:avLst/>
            </a:prstGeom>
            <a:noFill/>
          </p:spPr>
          <p:txBody>
            <a:bodyPr wrap="square" lIns="0" rIns="0" tIns="0" bIns="0" anchor="t">
              <a:noAutofit/>
            </a:bodyPr>
            <a:lstStyle/>
            <a:p>
              <a:pPr algn="l">
                <a:lnSpc>
                  <a:spcPct val="108000"/>
                </a:lnSpc>
              </a:pPr>
              <a:r>
                <a:rPr sz="1800" b="0" i="0">
                  <a:solidFill>
                    <a:srgbClr val="FFFFFF"/>
                  </a:solidFill>
                  <a:latin typeface="Arial"/>
                </a:rPr>
                <a:t>asks up to five follow-ups</a:t>
              </a:r>
            </a:p>
          </p:txBody>
        </p:sp>
        <p:cxnSp>
          <p:nvCxnSpPr>
            <p:cNvPr id="14" name="Connector 13"/>
            <p:cNvCxnSpPr/>
            <p:nvPr/>
          </p:nvCxnSpPr>
          <p:spPr>
            <a:xfrm>
              <a:off x="3108960" y="2537460"/>
              <a:ext cx="253288" cy="0"/>
            </a:xfrm>
            <a:prstGeom prst="line">
              <a:avLst/>
            </a:prstGeom>
            <a:ln w="25400">
              <a:solidFill>
                <a:srgbClr val="556273"/>
              </a:solidFill>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15" name="Step 3"/>
          <p:cNvGrpSpPr/>
          <p:nvPr/>
        </p:nvGrpSpPr>
        <p:grpSpPr>
          <a:xfrm>
            <a:off x="3407968" y="3474720"/>
            <a:ext cx="2514600" cy="2240280"/>
            <a:chOff x="3407968" y="3474720"/>
            <a:chExt cx="2514600" cy="2240280"/>
          </a:xfrm>
        </p:grpSpPr>
        <p:sp>
          <p:nvSpPr>
            <p:cNvPr id="16" name="Rounded Rectangle 15"/>
            <p:cNvSpPr/>
            <p:nvPr/>
          </p:nvSpPr>
          <p:spPr>
            <a:xfrm>
              <a:off x="3407968" y="3931920"/>
              <a:ext cx="2514600" cy="1783080"/>
            </a:xfrm>
            <a:prstGeom prst="roundRect">
              <a:avLst>
                <a:gd name="adj" fmla="val 7179"/>
              </a:avLst>
            </a:prstGeom>
            <a:solidFill>
              <a:srgbClr val="FFFFFF"/>
            </a:solidFill>
            <a:ln w="12700">
              <a:solidFill>
                <a:srgbClr val="C6D0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72560" y="4096511"/>
              <a:ext cx="420624" cy="420624"/>
            </a:xfrm>
            <a:prstGeom prst="ellipse">
              <a:avLst/>
            </a:prstGeom>
            <a:solidFill>
              <a:srgbClr val="E2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8000"/>
                </a:lnSpc>
              </a:pPr>
              <a:r>
                <a:rPr sz="2000" b="1" i="0">
                  <a:solidFill>
                    <a:srgbClr val="03507B"/>
                  </a:solidFill>
                  <a:latin typeface="Arial"/>
                </a:rPr>
                <a:t>3</a:t>
              </a:r>
            </a:p>
          </p:txBody>
        </p:sp>
        <p:sp>
          <p:nvSpPr>
            <p:cNvPr id="18" name="TextBox 17"/>
            <p:cNvSpPr txBox="1"/>
            <p:nvPr/>
          </p:nvSpPr>
          <p:spPr>
            <a:xfrm>
              <a:off x="3590848" y="4590288"/>
              <a:ext cx="2148840" cy="411480"/>
            </a:xfrm>
            <a:prstGeom prst="rect">
              <a:avLst/>
            </a:prstGeom>
            <a:noFill/>
          </p:spPr>
          <p:txBody>
            <a:bodyPr wrap="square" lIns="0" rIns="0" tIns="0" bIns="0" anchor="t">
              <a:noAutofit/>
            </a:bodyPr>
            <a:lstStyle/>
            <a:p>
              <a:pPr algn="l">
                <a:lnSpc>
                  <a:spcPct val="108000"/>
                </a:lnSpc>
              </a:pPr>
              <a:r>
                <a:rPr sz="2200" b="1" i="0">
                  <a:solidFill>
                    <a:srgbClr val="0E1726"/>
                  </a:solidFill>
                  <a:latin typeface="Arial"/>
                </a:rPr>
                <a:t>Verified facts</a:t>
              </a:r>
            </a:p>
          </p:txBody>
        </p:sp>
        <p:sp>
          <p:nvSpPr>
            <p:cNvPr id="19" name="TextBox 18"/>
            <p:cNvSpPr txBox="1"/>
            <p:nvPr/>
          </p:nvSpPr>
          <p:spPr>
            <a:xfrm>
              <a:off x="3590848" y="5029200"/>
              <a:ext cx="2148840" cy="640080"/>
            </a:xfrm>
            <a:prstGeom prst="rect">
              <a:avLst/>
            </a:prstGeom>
            <a:noFill/>
          </p:spPr>
          <p:txBody>
            <a:bodyPr wrap="square" lIns="0" rIns="0" tIns="0" bIns="0" anchor="t">
              <a:noAutofit/>
            </a:bodyPr>
            <a:lstStyle/>
            <a:p>
              <a:pPr algn="l">
                <a:lnSpc>
                  <a:spcPct val="108000"/>
                </a:lnSpc>
              </a:pPr>
              <a:r>
                <a:rPr sz="1800" b="0" i="0">
                  <a:solidFill>
                    <a:srgbClr val="3B4859"/>
                  </a:solidFill>
                  <a:latin typeface="Arial"/>
                </a:rPr>
                <a:t>54, each with a source and date</a:t>
              </a:r>
            </a:p>
          </p:txBody>
        </p:sp>
        <p:cxnSp>
          <p:nvCxnSpPr>
            <p:cNvPr id="20" name="Connector 19"/>
            <p:cNvCxnSpPr/>
            <p:nvPr/>
          </p:nvCxnSpPr>
          <p:spPr>
            <a:xfrm>
              <a:off x="4665268" y="3474720"/>
              <a:ext cx="0" cy="411480"/>
            </a:xfrm>
            <a:prstGeom prst="line">
              <a:avLst/>
            </a:prstGeom>
            <a:ln w="25400">
              <a:solidFill>
                <a:srgbClr val="556273"/>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21" name="Step 4"/>
          <p:cNvGrpSpPr/>
          <p:nvPr/>
        </p:nvGrpSpPr>
        <p:grpSpPr>
          <a:xfrm>
            <a:off x="5968288" y="1645920"/>
            <a:ext cx="2812695" cy="1783080"/>
            <a:chOff x="5968288" y="1645920"/>
            <a:chExt cx="2812695" cy="1783080"/>
          </a:xfrm>
        </p:grpSpPr>
        <p:sp>
          <p:nvSpPr>
            <p:cNvPr id="22" name="Rounded Rectangle 21"/>
            <p:cNvSpPr/>
            <p:nvPr/>
          </p:nvSpPr>
          <p:spPr>
            <a:xfrm>
              <a:off x="6266383" y="1645920"/>
              <a:ext cx="2514600" cy="1783080"/>
            </a:xfrm>
            <a:prstGeom prst="roundRect">
              <a:avLst>
                <a:gd name="adj" fmla="val 7179"/>
              </a:avLst>
            </a:prstGeom>
            <a:solidFill>
              <a:srgbClr val="FFFFFF"/>
            </a:solidFill>
            <a:ln w="12700">
              <a:solidFill>
                <a:srgbClr val="C6D0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0975" y="1810512"/>
              <a:ext cx="420624" cy="420624"/>
            </a:xfrm>
            <a:prstGeom prst="ellipse">
              <a:avLst/>
            </a:prstGeom>
            <a:solidFill>
              <a:srgbClr val="E2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8000"/>
                </a:lnSpc>
              </a:pPr>
              <a:r>
                <a:rPr sz="2000" b="1" i="0">
                  <a:solidFill>
                    <a:srgbClr val="03507B"/>
                  </a:solidFill>
                  <a:latin typeface="Arial"/>
                </a:rPr>
                <a:t>4</a:t>
              </a:r>
            </a:p>
          </p:txBody>
        </p:sp>
        <p:sp>
          <p:nvSpPr>
            <p:cNvPr id="24" name="TextBox 23"/>
            <p:cNvSpPr txBox="1"/>
            <p:nvPr/>
          </p:nvSpPr>
          <p:spPr>
            <a:xfrm>
              <a:off x="6449263" y="2304288"/>
              <a:ext cx="2148840" cy="411480"/>
            </a:xfrm>
            <a:prstGeom prst="rect">
              <a:avLst/>
            </a:prstGeom>
            <a:noFill/>
          </p:spPr>
          <p:txBody>
            <a:bodyPr wrap="square" lIns="0" rIns="0" tIns="0" bIns="0" anchor="t">
              <a:noAutofit/>
            </a:bodyPr>
            <a:lstStyle/>
            <a:p>
              <a:pPr algn="l">
                <a:lnSpc>
                  <a:spcPct val="108000"/>
                </a:lnSpc>
              </a:pPr>
              <a:r>
                <a:rPr sz="2200" b="1" i="0">
                  <a:solidFill>
                    <a:srgbClr val="0E1726"/>
                  </a:solidFill>
                  <a:latin typeface="Arial"/>
                </a:rPr>
                <a:t>Reports</a:t>
              </a:r>
            </a:p>
          </p:txBody>
        </p:sp>
        <p:sp>
          <p:nvSpPr>
            <p:cNvPr id="25" name="TextBox 24"/>
            <p:cNvSpPr txBox="1"/>
            <p:nvPr/>
          </p:nvSpPr>
          <p:spPr>
            <a:xfrm>
              <a:off x="6449263" y="2743200"/>
              <a:ext cx="2148840" cy="640080"/>
            </a:xfrm>
            <a:prstGeom prst="rect">
              <a:avLst/>
            </a:prstGeom>
            <a:noFill/>
          </p:spPr>
          <p:txBody>
            <a:bodyPr wrap="square" lIns="0" rIns="0" tIns="0" bIns="0" anchor="t">
              <a:noAutofit/>
            </a:bodyPr>
            <a:lstStyle/>
            <a:p>
              <a:pPr algn="l">
                <a:lnSpc>
                  <a:spcPct val="108000"/>
                </a:lnSpc>
              </a:pPr>
              <a:r>
                <a:rPr sz="1800" b="0" i="0">
                  <a:solidFill>
                    <a:srgbClr val="3B4859"/>
                  </a:solidFill>
                  <a:latin typeface="Arial"/>
                </a:rPr>
                <a:t>one per problem, repeats checked</a:t>
              </a:r>
            </a:p>
          </p:txBody>
        </p:sp>
        <p:cxnSp>
          <p:nvCxnSpPr>
            <p:cNvPr id="26" name="Connector 25"/>
            <p:cNvCxnSpPr/>
            <p:nvPr/>
          </p:nvCxnSpPr>
          <p:spPr>
            <a:xfrm>
              <a:off x="5968288" y="2537460"/>
              <a:ext cx="252375" cy="0"/>
            </a:xfrm>
            <a:prstGeom prst="line">
              <a:avLst/>
            </a:prstGeom>
            <a:ln w="25400">
              <a:solidFill>
                <a:srgbClr val="556273"/>
              </a:solidFill>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27" name="Step 5"/>
          <p:cNvGrpSpPr/>
          <p:nvPr/>
        </p:nvGrpSpPr>
        <p:grpSpPr>
          <a:xfrm>
            <a:off x="8826703" y="1645920"/>
            <a:ext cx="2813609" cy="1783080"/>
            <a:chOff x="8826703" y="1645920"/>
            <a:chExt cx="2813609" cy="1783080"/>
          </a:xfrm>
        </p:grpSpPr>
        <p:sp>
          <p:nvSpPr>
            <p:cNvPr id="28" name="Rounded Rectangle 27"/>
            <p:cNvSpPr/>
            <p:nvPr/>
          </p:nvSpPr>
          <p:spPr>
            <a:xfrm>
              <a:off x="9125712" y="1645920"/>
              <a:ext cx="2514600" cy="1783080"/>
            </a:xfrm>
            <a:prstGeom prst="roundRect">
              <a:avLst>
                <a:gd name="adj" fmla="val 7179"/>
              </a:avLst>
            </a:prstGeom>
            <a:solidFill>
              <a:srgbClr val="FFFFFF"/>
            </a:solidFill>
            <a:ln w="12700">
              <a:solidFill>
                <a:srgbClr val="C6D0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290304" y="1810512"/>
              <a:ext cx="420624" cy="420624"/>
            </a:xfrm>
            <a:prstGeom prst="ellipse">
              <a:avLst/>
            </a:prstGeom>
            <a:solidFill>
              <a:srgbClr val="E2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8000"/>
                </a:lnSpc>
              </a:pPr>
              <a:r>
                <a:rPr sz="2000" b="1" i="0">
                  <a:solidFill>
                    <a:srgbClr val="03507B"/>
                  </a:solidFill>
                  <a:latin typeface="Arial"/>
                </a:rPr>
                <a:t>5</a:t>
              </a:r>
            </a:p>
          </p:txBody>
        </p:sp>
        <p:sp>
          <p:nvSpPr>
            <p:cNvPr id="30" name="TextBox 29"/>
            <p:cNvSpPr txBox="1"/>
            <p:nvPr/>
          </p:nvSpPr>
          <p:spPr>
            <a:xfrm>
              <a:off x="9308592" y="2304288"/>
              <a:ext cx="2148840" cy="411480"/>
            </a:xfrm>
            <a:prstGeom prst="rect">
              <a:avLst/>
            </a:prstGeom>
            <a:noFill/>
          </p:spPr>
          <p:txBody>
            <a:bodyPr wrap="square" lIns="0" rIns="0" tIns="0" bIns="0" anchor="t">
              <a:noAutofit/>
            </a:bodyPr>
            <a:lstStyle/>
            <a:p>
              <a:pPr algn="l">
                <a:lnSpc>
                  <a:spcPct val="108000"/>
                </a:lnSpc>
              </a:pPr>
              <a:r>
                <a:rPr sz="2200" b="1" i="0">
                  <a:solidFill>
                    <a:srgbClr val="0E1726"/>
                  </a:solidFill>
                  <a:latin typeface="Arial"/>
                </a:rPr>
                <a:t>Dashboard</a:t>
              </a:r>
            </a:p>
          </p:txBody>
        </p:sp>
        <p:sp>
          <p:nvSpPr>
            <p:cNvPr id="31" name="TextBox 30"/>
            <p:cNvSpPr txBox="1"/>
            <p:nvPr/>
          </p:nvSpPr>
          <p:spPr>
            <a:xfrm>
              <a:off x="9308592" y="2743200"/>
              <a:ext cx="2148840" cy="640080"/>
            </a:xfrm>
            <a:prstGeom prst="rect">
              <a:avLst/>
            </a:prstGeom>
            <a:noFill/>
          </p:spPr>
          <p:txBody>
            <a:bodyPr wrap="square" lIns="0" rIns="0" tIns="0" bIns="0" anchor="t">
              <a:noAutofit/>
            </a:bodyPr>
            <a:lstStyle/>
            <a:p>
              <a:pPr algn="l">
                <a:lnSpc>
                  <a:spcPct val="108000"/>
                </a:lnSpc>
              </a:pPr>
              <a:r>
                <a:rPr sz="1800" b="0" i="0">
                  <a:solidFill>
                    <a:srgbClr val="3B4859"/>
                  </a:solidFill>
                  <a:latin typeface="Arial"/>
                </a:rPr>
                <a:t>council staff filter and update</a:t>
              </a:r>
            </a:p>
          </p:txBody>
        </p:sp>
        <p:cxnSp>
          <p:nvCxnSpPr>
            <p:cNvPr id="32" name="Connector 31"/>
            <p:cNvCxnSpPr/>
            <p:nvPr/>
          </p:nvCxnSpPr>
          <p:spPr>
            <a:xfrm>
              <a:off x="8826703" y="2537460"/>
              <a:ext cx="253289" cy="0"/>
            </a:xfrm>
            <a:prstGeom prst="line">
              <a:avLst/>
            </a:prstGeom>
            <a:ln w="25400">
              <a:solidFill>
                <a:srgbClr val="556273"/>
              </a:solidFill>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33" name="Step 6"/>
          <p:cNvGrpSpPr/>
          <p:nvPr/>
        </p:nvGrpSpPr>
        <p:grpSpPr>
          <a:xfrm>
            <a:off x="1805940" y="3474720"/>
            <a:ext cx="6975043" cy="2651760"/>
            <a:chOff x="1805940" y="3474720"/>
            <a:chExt cx="6975043" cy="2651760"/>
          </a:xfrm>
        </p:grpSpPr>
        <p:sp>
          <p:nvSpPr>
            <p:cNvPr id="34" name="Rounded Rectangle 33"/>
            <p:cNvSpPr/>
            <p:nvPr/>
          </p:nvSpPr>
          <p:spPr>
            <a:xfrm>
              <a:off x="6266383" y="3931920"/>
              <a:ext cx="2514600" cy="1783080"/>
            </a:xfrm>
            <a:prstGeom prst="roundRect">
              <a:avLst>
                <a:gd name="adj" fmla="val 7179"/>
              </a:avLst>
            </a:prstGeom>
            <a:solidFill>
              <a:srgbClr val="FFFFFF"/>
            </a:solidFill>
            <a:ln w="12700">
              <a:solidFill>
                <a:srgbClr val="C6D0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430975" y="4096511"/>
              <a:ext cx="420624" cy="420624"/>
            </a:xfrm>
            <a:prstGeom prst="ellipse">
              <a:avLst/>
            </a:prstGeom>
            <a:solidFill>
              <a:srgbClr val="E2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8000"/>
                </a:lnSpc>
              </a:pPr>
              <a:r>
                <a:rPr sz="2000" b="1" i="0">
                  <a:solidFill>
                    <a:srgbClr val="03507B"/>
                  </a:solidFill>
                  <a:latin typeface="Arial"/>
                </a:rPr>
                <a:t>6</a:t>
              </a:r>
            </a:p>
          </p:txBody>
        </p:sp>
        <p:sp>
          <p:nvSpPr>
            <p:cNvPr id="36" name="TextBox 35"/>
            <p:cNvSpPr txBox="1"/>
            <p:nvPr/>
          </p:nvSpPr>
          <p:spPr>
            <a:xfrm>
              <a:off x="6449263" y="4590288"/>
              <a:ext cx="2148840" cy="411480"/>
            </a:xfrm>
            <a:prstGeom prst="rect">
              <a:avLst/>
            </a:prstGeom>
            <a:noFill/>
          </p:spPr>
          <p:txBody>
            <a:bodyPr wrap="square" lIns="0" rIns="0" tIns="0" bIns="0" anchor="t">
              <a:noAutofit/>
            </a:bodyPr>
            <a:lstStyle/>
            <a:p>
              <a:pPr algn="l">
                <a:lnSpc>
                  <a:spcPct val="108000"/>
                </a:lnSpc>
              </a:pPr>
              <a:r>
                <a:rPr sz="2200" b="1" i="0">
                  <a:solidFill>
                    <a:srgbClr val="0E1726"/>
                  </a:solidFill>
                  <a:latin typeface="Arial"/>
                </a:rPr>
                <a:t>Private link</a:t>
              </a:r>
            </a:p>
          </p:txBody>
        </p:sp>
        <p:sp>
          <p:nvSpPr>
            <p:cNvPr id="37" name="TextBox 36"/>
            <p:cNvSpPr txBox="1"/>
            <p:nvPr/>
          </p:nvSpPr>
          <p:spPr>
            <a:xfrm>
              <a:off x="6449263" y="5029200"/>
              <a:ext cx="2148840" cy="640080"/>
            </a:xfrm>
            <a:prstGeom prst="rect">
              <a:avLst/>
            </a:prstGeom>
            <a:noFill/>
          </p:spPr>
          <p:txBody>
            <a:bodyPr wrap="square" lIns="0" rIns="0" tIns="0" bIns="0" anchor="t">
              <a:noAutofit/>
            </a:bodyPr>
            <a:lstStyle/>
            <a:p>
              <a:pPr algn="l">
                <a:lnSpc>
                  <a:spcPct val="108000"/>
                </a:lnSpc>
              </a:pPr>
              <a:r>
                <a:rPr sz="1800" b="0" i="0">
                  <a:solidFill>
                    <a:srgbClr val="3B4859"/>
                  </a:solidFill>
                  <a:latin typeface="Arial"/>
                </a:rPr>
                <a:t>resident sees only their report</a:t>
              </a:r>
            </a:p>
          </p:txBody>
        </p:sp>
        <p:cxnSp>
          <p:nvCxnSpPr>
            <p:cNvPr id="38" name="Connector 37"/>
            <p:cNvCxnSpPr/>
            <p:nvPr/>
          </p:nvCxnSpPr>
          <p:spPr>
            <a:xfrm>
              <a:off x="7523683" y="3474720"/>
              <a:ext cx="0" cy="411480"/>
            </a:xfrm>
            <a:prstGeom prst="line">
              <a:avLst/>
            </a:prstGeom>
            <a:ln w="25400">
              <a:solidFill>
                <a:srgbClr val="5562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523683" y="5760720"/>
              <a:ext cx="0" cy="365760"/>
            </a:xfrm>
            <a:prstGeom prst="line">
              <a:avLst/>
            </a:prstGeom>
            <a:ln w="25400">
              <a:solidFill>
                <a:srgbClr val="0369A1"/>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1805940" y="6126480"/>
              <a:ext cx="5717743" cy="0"/>
            </a:xfrm>
            <a:prstGeom prst="line">
              <a:avLst/>
            </a:prstGeom>
            <a:ln w="25400">
              <a:solidFill>
                <a:srgbClr val="0369A1"/>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805940" y="3474720"/>
              <a:ext cx="0" cy="2651760"/>
            </a:xfrm>
            <a:prstGeom prst="line">
              <a:avLst/>
            </a:prstGeom>
            <a:ln w="25400">
              <a:solidFill>
                <a:srgbClr val="0369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1988820" y="5715000"/>
              <a:ext cx="4206240" cy="365760"/>
            </a:xfrm>
            <a:prstGeom prst="rect">
              <a:avLst/>
            </a:prstGeom>
            <a:noFill/>
          </p:spPr>
          <p:txBody>
            <a:bodyPr wrap="square" lIns="0" rIns="0" tIns="0" bIns="0" anchor="t">
              <a:noAutofit/>
            </a:bodyPr>
            <a:lstStyle/>
            <a:p>
              <a:pPr algn="l">
                <a:lnSpc>
                  <a:spcPct val="108000"/>
                </a:lnSpc>
              </a:pPr>
              <a:r>
                <a:rPr sz="1800" b="1" i="0">
                  <a:solidFill>
                    <a:srgbClr val="03507B"/>
                  </a:solidFill>
                  <a:latin typeface="Arial"/>
                </a:rPr>
                <a:t>link sent back in the chat</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kicker"/>
          <p:cNvSpPr txBox="1"/>
          <p:nvPr/>
        </p:nvSpPr>
        <p:spPr>
          <a:xfrm>
            <a:off x="548640" y="384048"/>
            <a:ext cx="8229600" cy="365760"/>
          </a:xfrm>
          <a:prstGeom prst="rect">
            <a:avLst/>
          </a:prstGeom>
          <a:noFill/>
        </p:spPr>
        <p:txBody>
          <a:bodyPr wrap="square" lIns="0" rIns="0" tIns="0" bIns="0" anchor="t">
            <a:noAutofit/>
          </a:bodyPr>
          <a:lstStyle/>
          <a:p>
            <a:pPr algn="l">
              <a:lnSpc>
                <a:spcPct val="108000"/>
              </a:lnSpc>
            </a:pPr>
            <a:r>
              <a:rPr sz="1800" b="1" i="0">
                <a:solidFill>
                  <a:srgbClr val="0369A1"/>
                </a:solidFill>
                <a:latin typeface="Arial"/>
              </a:rPr>
              <a:t>TRUST</a:t>
            </a:r>
          </a:p>
        </p:txBody>
      </p:sp>
      <p:sp>
        <p:nvSpPr>
          <p:cNvPr id="3" name="!!title"/>
          <p:cNvSpPr txBox="1"/>
          <p:nvPr/>
        </p:nvSpPr>
        <p:spPr>
          <a:xfrm>
            <a:off x="548640" y="713232"/>
            <a:ext cx="11064240" cy="685800"/>
          </a:xfrm>
          <a:prstGeom prst="rect">
            <a:avLst/>
          </a:prstGeom>
          <a:noFill/>
        </p:spPr>
        <p:txBody>
          <a:bodyPr wrap="square" lIns="0" rIns="0" tIns="0" bIns="0" anchor="t">
            <a:noAutofit/>
          </a:bodyPr>
          <a:lstStyle/>
          <a:p>
            <a:pPr algn="l">
              <a:lnSpc>
                <a:spcPct val="108000"/>
              </a:lnSpc>
            </a:pPr>
            <a:r>
              <a:rPr sz="3600" b="1" i="0">
                <a:solidFill>
                  <a:srgbClr val="0E1726"/>
                </a:solidFill>
                <a:latin typeface="Arial"/>
              </a:rPr>
              <a:t>It only says what the council's own pages say</a:t>
            </a:r>
          </a:p>
        </p:txBody>
      </p:sp>
      <p:grpSp>
        <p:nvGrpSpPr>
          <p:cNvPr id="4" name="Fact 1"/>
          <p:cNvGrpSpPr/>
          <p:nvPr/>
        </p:nvGrpSpPr>
        <p:grpSpPr>
          <a:xfrm>
            <a:off x="548640" y="1691640"/>
            <a:ext cx="3611880" cy="3200400"/>
            <a:chOff x="548640" y="1691640"/>
            <a:chExt cx="3611880" cy="3200400"/>
          </a:xfrm>
        </p:grpSpPr>
        <p:sp>
          <p:nvSpPr>
            <p:cNvPr id="5" name="Rounded Rectangle 4"/>
            <p:cNvSpPr/>
            <p:nvPr/>
          </p:nvSpPr>
          <p:spPr>
            <a:xfrm>
              <a:off x="548640" y="1691640"/>
              <a:ext cx="3611880" cy="3200400"/>
            </a:xfrm>
            <a:prstGeom prst="roundRect">
              <a:avLst>
                <a:gd name="adj" fmla="val 4000"/>
              </a:avLst>
            </a:prstGeom>
            <a:solidFill>
              <a:srgbClr val="FFFFFF"/>
            </a:solidFill>
            <a:ln w="12700">
              <a:solidFill>
                <a:srgbClr val="C6D0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874519"/>
              <a:ext cx="3108960" cy="640080"/>
            </a:xfrm>
            <a:prstGeom prst="rect">
              <a:avLst/>
            </a:prstGeom>
            <a:noFill/>
          </p:spPr>
          <p:txBody>
            <a:bodyPr wrap="square" lIns="0" rIns="0" tIns="0" bIns="0" anchor="ctr">
              <a:noAutofit/>
            </a:bodyPr>
            <a:lstStyle/>
            <a:p>
              <a:pPr algn="l">
                <a:lnSpc>
                  <a:spcPct val="108000"/>
                </a:lnSpc>
              </a:pPr>
              <a:r>
                <a:rPr sz="3400" b="1" i="0">
                  <a:solidFill>
                    <a:srgbClr val="0369A1"/>
                  </a:solidFill>
                  <a:latin typeface="Arial"/>
                </a:rPr>
                <a:t>Over 7.5cm</a:t>
              </a:r>
            </a:p>
          </p:txBody>
        </p:sp>
        <p:sp>
          <p:nvSpPr>
            <p:cNvPr id="7" name="TextBox 6"/>
            <p:cNvSpPr txBox="1"/>
            <p:nvPr/>
          </p:nvSpPr>
          <p:spPr>
            <a:xfrm>
              <a:off x="822959" y="2606040"/>
              <a:ext cx="3108960" cy="1417320"/>
            </a:xfrm>
            <a:prstGeom prst="rect">
              <a:avLst/>
            </a:prstGeom>
            <a:noFill/>
          </p:spPr>
          <p:txBody>
            <a:bodyPr wrap="square" lIns="0" rIns="0" tIns="0" bIns="0" anchor="t">
              <a:noAutofit/>
            </a:bodyPr>
            <a:lstStyle/>
            <a:p>
              <a:pPr algn="l">
                <a:lnSpc>
                  <a:spcPct val="108000"/>
                </a:lnSpc>
              </a:pPr>
              <a:r>
                <a:rPr sz="2000" b="0" i="0">
                  <a:solidFill>
                    <a:srgbClr val="0E1726"/>
                  </a:solidFill>
                  <a:latin typeface="Arial"/>
                </a:rPr>
                <a:t>Road potholes over 7.5cm: repaired within 24 hours.</a:t>
              </a:r>
            </a:p>
          </p:txBody>
        </p:sp>
        <p:sp>
          <p:nvSpPr>
            <p:cNvPr id="8" name="TextBox 7"/>
            <p:cNvSpPr txBox="1"/>
            <p:nvPr/>
          </p:nvSpPr>
          <p:spPr>
            <a:xfrm>
              <a:off x="822959" y="4069080"/>
              <a:ext cx="3108960" cy="685800"/>
            </a:xfrm>
            <a:prstGeom prst="rect">
              <a:avLst/>
            </a:prstGeom>
            <a:noFill/>
          </p:spPr>
          <p:txBody>
            <a:bodyPr wrap="square" lIns="0" rIns="0" tIns="0" bIns="0" anchor="b">
              <a:noAutofit/>
            </a:bodyPr>
            <a:lstStyle/>
            <a:p>
              <a:pPr algn="l">
                <a:lnSpc>
                  <a:spcPct val="108000"/>
                </a:lnSpc>
              </a:pPr>
              <a:r>
                <a:rPr sz="1800" b="0" i="0">
                  <a:solidFill>
                    <a:srgbClr val="556273"/>
                  </a:solidFill>
                  <a:latin typeface="Arial"/>
                </a:rPr>
                <a:t>Council potholes page</a:t>
              </a:r>
            </a:p>
            <a:p>
              <a:pPr algn="l">
                <a:lnSpc>
                  <a:spcPct val="108000"/>
                </a:lnSpc>
              </a:pPr>
              <a:r>
                <a:rPr sz="1800" b="0" i="0">
                  <a:solidFill>
                    <a:srgbClr val="556273"/>
                  </a:solidFill>
                  <a:latin typeface="Arial"/>
                </a:rPr>
                <a:t>checked 17 Oct 2026</a:t>
              </a:r>
            </a:p>
          </p:txBody>
        </p:sp>
      </p:grpSp>
      <p:grpSp>
        <p:nvGrpSpPr>
          <p:cNvPr id="9" name="Fact 2"/>
          <p:cNvGrpSpPr/>
          <p:nvPr/>
        </p:nvGrpSpPr>
        <p:grpSpPr>
          <a:xfrm>
            <a:off x="4288536" y="1691640"/>
            <a:ext cx="3611880" cy="3200400"/>
            <a:chOff x="4288536" y="1691640"/>
            <a:chExt cx="3611880" cy="3200400"/>
          </a:xfrm>
        </p:grpSpPr>
        <p:sp>
          <p:nvSpPr>
            <p:cNvPr id="10" name="Rounded Rectangle 9"/>
            <p:cNvSpPr/>
            <p:nvPr/>
          </p:nvSpPr>
          <p:spPr>
            <a:xfrm>
              <a:off x="4288536" y="1691640"/>
              <a:ext cx="3611880" cy="3200400"/>
            </a:xfrm>
            <a:prstGeom prst="roundRect">
              <a:avLst>
                <a:gd name="adj" fmla="val 4000"/>
              </a:avLst>
            </a:prstGeom>
            <a:solidFill>
              <a:srgbClr val="FFFFFF"/>
            </a:solidFill>
            <a:ln w="12700">
              <a:solidFill>
                <a:srgbClr val="C6D0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2855" y="1874519"/>
              <a:ext cx="3108960" cy="640080"/>
            </a:xfrm>
            <a:prstGeom prst="rect">
              <a:avLst/>
            </a:prstGeom>
            <a:noFill/>
          </p:spPr>
          <p:txBody>
            <a:bodyPr wrap="square" lIns="0" rIns="0" tIns="0" bIns="0" anchor="ctr">
              <a:noAutofit/>
            </a:bodyPr>
            <a:lstStyle/>
            <a:p>
              <a:pPr algn="l">
                <a:lnSpc>
                  <a:spcPct val="108000"/>
                </a:lnSpc>
              </a:pPr>
              <a:r>
                <a:rPr sz="3400" b="1" i="0">
                  <a:solidFill>
                    <a:srgbClr val="0369A1"/>
                  </a:solidFill>
                  <a:latin typeface="Arial"/>
                </a:rPr>
                <a:t>75%</a:t>
              </a:r>
            </a:p>
          </p:txBody>
        </p:sp>
        <p:sp>
          <p:nvSpPr>
            <p:cNvPr id="12" name="TextBox 11"/>
            <p:cNvSpPr txBox="1"/>
            <p:nvPr/>
          </p:nvSpPr>
          <p:spPr>
            <a:xfrm>
              <a:off x="4562855" y="2606040"/>
              <a:ext cx="3108960" cy="1417320"/>
            </a:xfrm>
            <a:prstGeom prst="rect">
              <a:avLst/>
            </a:prstGeom>
            <a:noFill/>
          </p:spPr>
          <p:txBody>
            <a:bodyPr wrap="square" lIns="0" rIns="0" tIns="0" bIns="0" anchor="t">
              <a:noAutofit/>
            </a:bodyPr>
            <a:lstStyle/>
            <a:p>
              <a:pPr algn="l">
                <a:lnSpc>
                  <a:spcPct val="108000"/>
                </a:lnSpc>
              </a:pPr>
              <a:r>
                <a:rPr sz="2000" b="0" i="0">
                  <a:solidFill>
                    <a:srgbClr val="0E1726"/>
                  </a:solidFill>
                  <a:latin typeface="Arial"/>
                </a:rPr>
                <a:t>Aim: 75% of urgent street cleaning requests dealt with in one working day. An aim, not a guarantee.</a:t>
              </a:r>
            </a:p>
          </p:txBody>
        </p:sp>
        <p:sp>
          <p:nvSpPr>
            <p:cNvPr id="13" name="TextBox 12"/>
            <p:cNvSpPr txBox="1"/>
            <p:nvPr/>
          </p:nvSpPr>
          <p:spPr>
            <a:xfrm>
              <a:off x="4562855" y="4069080"/>
              <a:ext cx="3108960" cy="685800"/>
            </a:xfrm>
            <a:prstGeom prst="rect">
              <a:avLst/>
            </a:prstGeom>
            <a:noFill/>
          </p:spPr>
          <p:txBody>
            <a:bodyPr wrap="square" lIns="0" rIns="0" tIns="0" bIns="0" anchor="b">
              <a:noAutofit/>
            </a:bodyPr>
            <a:lstStyle/>
            <a:p>
              <a:pPr algn="l">
                <a:lnSpc>
                  <a:spcPct val="108000"/>
                </a:lnSpc>
              </a:pPr>
              <a:r>
                <a:rPr sz="1800" b="0" i="0">
                  <a:solidFill>
                    <a:srgbClr val="556273"/>
                  </a:solidFill>
                  <a:latin typeface="Arial"/>
                </a:rPr>
                <a:t>Environmental issues page</a:t>
              </a:r>
            </a:p>
            <a:p>
              <a:pPr algn="l">
                <a:lnSpc>
                  <a:spcPct val="108000"/>
                </a:lnSpc>
              </a:pPr>
              <a:r>
                <a:rPr sz="1800" b="0" i="0">
                  <a:solidFill>
                    <a:srgbClr val="556273"/>
                  </a:solidFill>
                  <a:latin typeface="Arial"/>
                </a:rPr>
                <a:t>checked 17 Oct 2026</a:t>
              </a:r>
            </a:p>
          </p:txBody>
        </p:sp>
      </p:grpSp>
      <p:grpSp>
        <p:nvGrpSpPr>
          <p:cNvPr id="14" name="Fact 3"/>
          <p:cNvGrpSpPr/>
          <p:nvPr/>
        </p:nvGrpSpPr>
        <p:grpSpPr>
          <a:xfrm>
            <a:off x="8028431" y="1691640"/>
            <a:ext cx="3611880" cy="3200400"/>
            <a:chOff x="8028431" y="1691640"/>
            <a:chExt cx="3611880" cy="3200400"/>
          </a:xfrm>
        </p:grpSpPr>
        <p:sp>
          <p:nvSpPr>
            <p:cNvPr id="15" name="Rounded Rectangle 14"/>
            <p:cNvSpPr/>
            <p:nvPr/>
          </p:nvSpPr>
          <p:spPr>
            <a:xfrm>
              <a:off x="8028431" y="1691640"/>
              <a:ext cx="3611880" cy="3200400"/>
            </a:xfrm>
            <a:prstGeom prst="roundRect">
              <a:avLst>
                <a:gd name="adj" fmla="val 4000"/>
              </a:avLst>
            </a:prstGeom>
            <a:solidFill>
              <a:srgbClr val="FFFFFF"/>
            </a:solidFill>
            <a:ln w="12700">
              <a:solidFill>
                <a:srgbClr val="C6D0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2752" y="1874519"/>
              <a:ext cx="3108960" cy="640080"/>
            </a:xfrm>
            <a:prstGeom prst="rect">
              <a:avLst/>
            </a:prstGeom>
            <a:noFill/>
          </p:spPr>
          <p:txBody>
            <a:bodyPr wrap="square" lIns="0" rIns="0" tIns="0" bIns="0" anchor="ctr">
              <a:noAutofit/>
            </a:bodyPr>
            <a:lstStyle/>
            <a:p>
              <a:pPr algn="l">
                <a:lnSpc>
                  <a:spcPct val="108000"/>
                </a:lnSpc>
              </a:pPr>
              <a:r>
                <a:rPr sz="3000" b="1" i="0">
                  <a:solidFill>
                    <a:srgbClr val="0369A1"/>
                  </a:solidFill>
                  <a:latin typeface="Arial"/>
                </a:rPr>
                <a:t>023 8023 3344</a:t>
              </a:r>
            </a:p>
          </p:txBody>
        </p:sp>
        <p:sp>
          <p:nvSpPr>
            <p:cNvPr id="17" name="TextBox 16"/>
            <p:cNvSpPr txBox="1"/>
            <p:nvPr/>
          </p:nvSpPr>
          <p:spPr>
            <a:xfrm>
              <a:off x="8302752" y="2606040"/>
              <a:ext cx="3108960" cy="1417320"/>
            </a:xfrm>
            <a:prstGeom prst="rect">
              <a:avLst/>
            </a:prstGeom>
            <a:noFill/>
          </p:spPr>
          <p:txBody>
            <a:bodyPr wrap="square" lIns="0" rIns="0" tIns="0" bIns="0" anchor="t">
              <a:noAutofit/>
            </a:bodyPr>
            <a:lstStyle/>
            <a:p>
              <a:pPr algn="l">
                <a:lnSpc>
                  <a:spcPct val="108000"/>
                </a:lnSpc>
              </a:pPr>
              <a:r>
                <a:rPr sz="2000" b="0" i="0">
                  <a:solidFill>
                    <a:srgbClr val="0E1726"/>
                  </a:solidFill>
                  <a:latin typeface="Arial"/>
                </a:rPr>
                <a:t>Council housing emergency repairs, out of office hours.</a:t>
              </a:r>
            </a:p>
          </p:txBody>
        </p:sp>
        <p:sp>
          <p:nvSpPr>
            <p:cNvPr id="18" name="TextBox 17"/>
            <p:cNvSpPr txBox="1"/>
            <p:nvPr/>
          </p:nvSpPr>
          <p:spPr>
            <a:xfrm>
              <a:off x="8302752" y="4069080"/>
              <a:ext cx="3108960" cy="685800"/>
            </a:xfrm>
            <a:prstGeom prst="rect">
              <a:avLst/>
            </a:prstGeom>
            <a:noFill/>
          </p:spPr>
          <p:txBody>
            <a:bodyPr wrap="square" lIns="0" rIns="0" tIns="0" bIns="0" anchor="b">
              <a:noAutofit/>
            </a:bodyPr>
            <a:lstStyle/>
            <a:p>
              <a:pPr algn="l">
                <a:lnSpc>
                  <a:spcPct val="108000"/>
                </a:lnSpc>
              </a:pPr>
              <a:r>
                <a:rPr sz="1800" b="0" i="0">
                  <a:solidFill>
                    <a:srgbClr val="556273"/>
                  </a:solidFill>
                  <a:latin typeface="Arial"/>
                </a:rPr>
                <a:t>Out of hours page</a:t>
              </a:r>
            </a:p>
            <a:p>
              <a:pPr algn="l">
                <a:lnSpc>
                  <a:spcPct val="108000"/>
                </a:lnSpc>
              </a:pPr>
              <a:r>
                <a:rPr sz="1800" b="0" i="0">
                  <a:solidFill>
                    <a:srgbClr val="556273"/>
                  </a:solidFill>
                  <a:latin typeface="Arial"/>
                </a:rPr>
                <a:t>checked 17 Oct 2026</a:t>
              </a:r>
            </a:p>
          </p:txBody>
        </p:sp>
      </p:grpSp>
      <p:grpSp>
        <p:nvGrpSpPr>
          <p:cNvPr id="19" name="Cannot confirm"/>
          <p:cNvGrpSpPr/>
          <p:nvPr/>
        </p:nvGrpSpPr>
        <p:grpSpPr>
          <a:xfrm>
            <a:off x="548640" y="5074920"/>
            <a:ext cx="11091672" cy="1234440"/>
            <a:chOff x="548640" y="5074920"/>
            <a:chExt cx="11091672" cy="1234440"/>
          </a:xfrm>
        </p:grpSpPr>
        <p:sp>
          <p:nvSpPr>
            <p:cNvPr id="20" name="Rounded Rectangle 19"/>
            <p:cNvSpPr/>
            <p:nvPr/>
          </p:nvSpPr>
          <p:spPr>
            <a:xfrm>
              <a:off x="548640" y="5074920"/>
              <a:ext cx="11091672" cy="1234440"/>
            </a:xfrm>
            <a:prstGeom prst="roundRect">
              <a:avLst>
                <a:gd name="adj" fmla="val 10370"/>
              </a:avLst>
            </a:prstGeom>
            <a:solidFill>
              <a:srgbClr val="E2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5074920"/>
              <a:ext cx="2834640" cy="1234440"/>
            </a:xfrm>
            <a:prstGeom prst="rect">
              <a:avLst/>
            </a:prstGeom>
            <a:noFill/>
          </p:spPr>
          <p:txBody>
            <a:bodyPr wrap="square" lIns="0" rIns="0" tIns="0" bIns="0" anchor="ctr">
              <a:noAutofit/>
            </a:bodyPr>
            <a:lstStyle/>
            <a:p>
              <a:pPr algn="l">
                <a:lnSpc>
                  <a:spcPct val="108000"/>
                </a:lnSpc>
              </a:pPr>
              <a:r>
                <a:rPr sz="2200" b="1" i="0">
                  <a:solidFill>
                    <a:srgbClr val="03507B"/>
                  </a:solidFill>
                  <a:latin typeface="Arial"/>
                </a:rPr>
                <a:t>When the facts don't cover it</a:t>
              </a:r>
            </a:p>
          </p:txBody>
        </p:sp>
        <p:sp>
          <p:nvSpPr>
            <p:cNvPr id="22" name="TextBox 21"/>
            <p:cNvSpPr txBox="1"/>
            <p:nvPr/>
          </p:nvSpPr>
          <p:spPr>
            <a:xfrm>
              <a:off x="3840480" y="5074920"/>
              <a:ext cx="7589520" cy="1234440"/>
            </a:xfrm>
            <a:prstGeom prst="rect">
              <a:avLst/>
            </a:prstGeom>
            <a:noFill/>
          </p:spPr>
          <p:txBody>
            <a:bodyPr wrap="square" lIns="0" rIns="0" tIns="0" bIns="0" anchor="ctr">
              <a:noAutofit/>
            </a:bodyPr>
            <a:lstStyle/>
            <a:p>
              <a:pPr algn="l">
                <a:lnSpc>
                  <a:spcPct val="108000"/>
                </a:lnSpc>
              </a:pPr>
              <a:r>
                <a:rPr sz="2200" b="0" i="1">
                  <a:solidFill>
                    <a:srgbClr val="0E1726"/>
                  </a:solidFill>
                  <a:latin typeface="Arial"/>
                </a:rPr>
                <a:t>“I can't confirm who owns that road. Try the council's roads page or National Highways.”</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kicker"/>
          <p:cNvSpPr txBox="1"/>
          <p:nvPr/>
        </p:nvSpPr>
        <p:spPr>
          <a:xfrm>
            <a:off x="548640" y="384048"/>
            <a:ext cx="8229600" cy="365760"/>
          </a:xfrm>
          <a:prstGeom prst="rect">
            <a:avLst/>
          </a:prstGeom>
          <a:noFill/>
        </p:spPr>
        <p:txBody>
          <a:bodyPr wrap="square" lIns="0" rIns="0" tIns="0" bIns="0" anchor="t">
            <a:noAutofit/>
          </a:bodyPr>
          <a:lstStyle/>
          <a:p>
            <a:pPr algn="l">
              <a:lnSpc>
                <a:spcPct val="108000"/>
              </a:lnSpc>
            </a:pPr>
            <a:r>
              <a:rPr sz="1800" b="1" i="0">
                <a:solidFill>
                  <a:srgbClr val="0369A1"/>
                </a:solidFill>
                <a:latin typeface="Arial"/>
              </a:rPr>
              <a:t>DEMO · RESIDENT</a:t>
            </a:r>
          </a:p>
        </p:txBody>
      </p:sp>
      <p:sp>
        <p:nvSpPr>
          <p:cNvPr id="3" name="!!title"/>
          <p:cNvSpPr txBox="1"/>
          <p:nvPr/>
        </p:nvSpPr>
        <p:spPr>
          <a:xfrm>
            <a:off x="548640" y="713232"/>
            <a:ext cx="11064240" cy="685800"/>
          </a:xfrm>
          <a:prstGeom prst="rect">
            <a:avLst/>
          </a:prstGeom>
          <a:noFill/>
        </p:spPr>
        <p:txBody>
          <a:bodyPr wrap="square" lIns="0" rIns="0" tIns="0" bIns="0" anchor="t">
            <a:noAutofit/>
          </a:bodyPr>
          <a:lstStyle/>
          <a:p>
            <a:pPr algn="l">
              <a:lnSpc>
                <a:spcPct val="108000"/>
              </a:lnSpc>
            </a:pPr>
            <a:r>
              <a:rPr sz="3600" b="1" i="0">
                <a:solidFill>
                  <a:srgbClr val="0E1726"/>
                </a:solidFill>
                <a:latin typeface="Arial"/>
              </a:rPr>
              <a:t>A conversation, then a private link</a:t>
            </a:r>
          </a:p>
        </p:txBody>
      </p:sp>
      <p:sp>
        <p:nvSpPr>
          <p:cNvPr id="4" name="Rounded Rectangle 3"/>
          <p:cNvSpPr/>
          <p:nvPr/>
        </p:nvSpPr>
        <p:spPr>
          <a:xfrm>
            <a:off x="548640" y="1645920"/>
            <a:ext cx="5760720" cy="4526280"/>
          </a:xfrm>
          <a:prstGeom prst="roundRect">
            <a:avLst>
              <a:gd name="adj" fmla="val 2828"/>
            </a:avLst>
          </a:prstGeom>
          <a:solidFill>
            <a:srgbClr val="FFFFFF"/>
          </a:solidFill>
          <a:ln w="12700">
            <a:solidFill>
              <a:srgbClr val="C6D0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83080"/>
            <a:ext cx="5760720" cy="320040"/>
          </a:xfrm>
          <a:prstGeom prst="rect">
            <a:avLst/>
          </a:prstGeom>
          <a:noFill/>
        </p:spPr>
        <p:txBody>
          <a:bodyPr wrap="square" lIns="0" rIns="0" tIns="0" bIns="0" anchor="t">
            <a:noAutofit/>
          </a:bodyPr>
          <a:lstStyle/>
          <a:p>
            <a:pPr algn="ctr">
              <a:lnSpc>
                <a:spcPct val="108000"/>
              </a:lnSpc>
            </a:pPr>
            <a:r>
              <a:rPr sz="1800" b="1" i="0">
                <a:solidFill>
                  <a:srgbClr val="3B4859"/>
                </a:solidFill>
                <a:latin typeface="Arial"/>
              </a:rPr>
              <a:t>Messages · Kerbside</a:t>
            </a:r>
          </a:p>
        </p:txBody>
      </p:sp>
      <p:sp>
        <p:nvSpPr>
          <p:cNvPr id="6" name="Rectangle 5"/>
          <p:cNvSpPr/>
          <p:nvPr/>
        </p:nvSpPr>
        <p:spPr>
          <a:xfrm>
            <a:off x="548640" y="2194560"/>
            <a:ext cx="5760720" cy="13716"/>
          </a:xfrm>
          <a:prstGeom prst="rect">
            <a:avLst/>
          </a:prstGeom>
          <a:solidFill>
            <a:srgbClr val="C6D0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7" name="Chat turn 1"/>
          <p:cNvGrpSpPr/>
          <p:nvPr/>
        </p:nvGrpSpPr>
        <p:grpSpPr>
          <a:xfrm>
            <a:off x="731520" y="2377440"/>
            <a:ext cx="5394959" cy="1591056"/>
            <a:chOff x="731520" y="2377440"/>
            <a:chExt cx="5394959" cy="1591056"/>
          </a:xfrm>
        </p:grpSpPr>
        <p:sp>
          <p:nvSpPr>
            <p:cNvPr id="8" name="Rounded Rectangle 7"/>
            <p:cNvSpPr/>
            <p:nvPr/>
          </p:nvSpPr>
          <p:spPr>
            <a:xfrm>
              <a:off x="1920239" y="2377440"/>
              <a:ext cx="4206240" cy="502920"/>
            </a:xfrm>
            <a:prstGeom prst="roundRect">
              <a:avLst>
                <a:gd name="adj" fmla="val 36363"/>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46304" bIns="146304">
              <a:noAutofit/>
            </a:bodyPr>
            <a:lstStyle/>
            <a:p>
              <a:pPr algn="l">
                <a:lnSpc>
                  <a:spcPct val="108000"/>
                </a:lnSpc>
              </a:pPr>
              <a:r>
                <a:rPr sz="1800" b="0" i="0">
                  <a:solidFill>
                    <a:srgbClr val="FFFFFF"/>
                  </a:solidFill>
                  <a:latin typeface="Arial"/>
                </a:rPr>
                <a:t>Massive pothole, nearly burst a tyre</a:t>
              </a:r>
            </a:p>
          </p:txBody>
        </p:sp>
        <p:sp>
          <p:nvSpPr>
            <p:cNvPr id="9" name="Rounded Rectangle 8"/>
            <p:cNvSpPr/>
            <p:nvPr/>
          </p:nvSpPr>
          <p:spPr>
            <a:xfrm>
              <a:off x="731520" y="3008376"/>
              <a:ext cx="5120640" cy="960120"/>
            </a:xfrm>
            <a:prstGeom prst="roundRect">
              <a:avLst>
                <a:gd name="adj" fmla="val 19047"/>
              </a:avLst>
            </a:prstGeom>
            <a:solidFill>
              <a:srgbClr val="E9EC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46304" bIns="146304">
              <a:noAutofit/>
            </a:bodyPr>
            <a:lstStyle/>
            <a:p>
              <a:pPr algn="l">
                <a:lnSpc>
                  <a:spcPct val="105000"/>
                </a:lnSpc>
              </a:pPr>
              <a:r>
                <a:rPr sz="1800" b="0" i="0">
                  <a:solidFill>
                    <a:srgbClr val="0E1726"/>
                  </a:solidFill>
                  <a:latin typeface="Arial"/>
                </a:rPr>
                <a:t>Logged: pothole.</a:t>
              </a:r>
            </a:p>
            <a:p>
              <a:pPr algn="l">
                <a:lnSpc>
                  <a:spcPct val="105000"/>
                </a:lnSpc>
              </a:pPr>
              <a:r>
                <a:rPr sz="1800" b="0" i="0">
                  <a:solidFill>
                    <a:srgbClr val="0E1726"/>
                  </a:solidFill>
                  <a:latin typeface="Arial"/>
                </a:rPr>
                <a:t>Which road, and nearest house number or junction?</a:t>
              </a:r>
            </a:p>
          </p:txBody>
        </p:sp>
      </p:grpSp>
      <p:grpSp>
        <p:nvGrpSpPr>
          <p:cNvPr id="10" name="Chat turn 2"/>
          <p:cNvGrpSpPr/>
          <p:nvPr/>
        </p:nvGrpSpPr>
        <p:grpSpPr>
          <a:xfrm>
            <a:off x="731520" y="4096512"/>
            <a:ext cx="5394959" cy="1682496"/>
            <a:chOff x="731520" y="4096512"/>
            <a:chExt cx="5394959" cy="1682496"/>
          </a:xfrm>
        </p:grpSpPr>
        <p:sp>
          <p:nvSpPr>
            <p:cNvPr id="11" name="Rounded Rectangle 10"/>
            <p:cNvSpPr/>
            <p:nvPr/>
          </p:nvSpPr>
          <p:spPr>
            <a:xfrm>
              <a:off x="3108959" y="4096512"/>
              <a:ext cx="3017520" cy="502920"/>
            </a:xfrm>
            <a:prstGeom prst="roundRect">
              <a:avLst>
                <a:gd name="adj" fmla="val 36363"/>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46304" bIns="146304">
              <a:noAutofit/>
            </a:bodyPr>
            <a:lstStyle/>
            <a:p>
              <a:pPr algn="l">
                <a:lnSpc>
                  <a:spcPct val="108000"/>
                </a:lnSpc>
              </a:pPr>
              <a:r>
                <a:rPr sz="1800" b="0" i="0">
                  <a:solidFill>
                    <a:srgbClr val="FFFFFF"/>
                  </a:solidFill>
                  <a:latin typeface="Arial"/>
                </a:rPr>
                <a:t>46 Portswood Road</a:t>
              </a:r>
            </a:p>
          </p:txBody>
        </p:sp>
        <p:sp>
          <p:nvSpPr>
            <p:cNvPr id="12" name="Rounded Rectangle 11"/>
            <p:cNvSpPr/>
            <p:nvPr/>
          </p:nvSpPr>
          <p:spPr>
            <a:xfrm>
              <a:off x="731520" y="4727448"/>
              <a:ext cx="5120640" cy="1051560"/>
            </a:xfrm>
            <a:prstGeom prst="roundRect">
              <a:avLst>
                <a:gd name="adj" fmla="val 17391"/>
              </a:avLst>
            </a:prstGeom>
            <a:solidFill>
              <a:srgbClr val="E9EC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46304" bIns="146304">
              <a:noAutofit/>
            </a:bodyPr>
            <a:lstStyle/>
            <a:p>
              <a:pPr algn="l">
                <a:lnSpc>
                  <a:spcPct val="105000"/>
                </a:lnSpc>
              </a:pPr>
              <a:r>
                <a:rPr sz="1800" b="0" i="0">
                  <a:solidFill>
                    <a:srgbClr val="0E1726"/>
                  </a:solidFill>
                  <a:latin typeface="Arial"/>
                </a:rPr>
                <a:t>Thanks, added: pothole at Portswood Road.</a:t>
              </a:r>
            </a:p>
            <a:p>
              <a:pPr algn="l">
                <a:lnSpc>
                  <a:spcPct val="105000"/>
                </a:lnSpc>
              </a:pPr>
              <a:r>
                <a:rPr sz="1800" b="0" i="0">
                  <a:solidFill>
                    <a:srgbClr val="0E1726"/>
                  </a:solidFill>
                  <a:latin typeface="Arial"/>
                </a:rPr>
                <a:t>It hasn't gone to the council yet.</a:t>
              </a:r>
            </a:p>
            <a:p>
              <a:pPr algn="l">
                <a:lnSpc>
                  <a:spcPct val="105000"/>
                </a:lnSpc>
              </a:pPr>
              <a:r>
                <a:rPr sz="1800" b="1" i="0">
                  <a:solidFill>
                    <a:srgbClr val="0369A1"/>
                  </a:solidFill>
                  <a:latin typeface="Arial"/>
                </a:rPr>
                <a:t>Follow it ›</a:t>
              </a:r>
            </a:p>
          </p:txBody>
        </p:sp>
      </p:grpSp>
      <p:sp>
        <p:nvSpPr>
          <p:cNvPr id="13" name="TextBox 12"/>
          <p:cNvSpPr txBox="1"/>
          <p:nvPr/>
        </p:nvSpPr>
        <p:spPr>
          <a:xfrm>
            <a:off x="548640" y="6263640"/>
            <a:ext cx="5760720" cy="365760"/>
          </a:xfrm>
          <a:prstGeom prst="rect">
            <a:avLst/>
          </a:prstGeom>
          <a:noFill/>
        </p:spPr>
        <p:txBody>
          <a:bodyPr wrap="square" lIns="0" rIns="0" tIns="0" bIns="0" anchor="t">
            <a:noAutofit/>
          </a:bodyPr>
          <a:lstStyle/>
          <a:p>
            <a:pPr algn="ctr">
              <a:lnSpc>
                <a:spcPct val="108000"/>
              </a:lnSpc>
            </a:pPr>
            <a:r>
              <a:rPr sz="1800" b="0" i="0">
                <a:solidFill>
                  <a:srgbClr val="556273"/>
                </a:solidFill>
                <a:latin typeface="Arial"/>
              </a:rPr>
              <a:t>The agent's real reply text, shortened</a:t>
            </a:r>
          </a:p>
        </p:txBody>
      </p:sp>
      <p:grpSp>
        <p:nvGrpSpPr>
          <p:cNvPr id="14" name="Resident page"/>
          <p:cNvGrpSpPr/>
          <p:nvPr/>
        </p:nvGrpSpPr>
        <p:grpSpPr>
          <a:xfrm>
            <a:off x="6675120" y="1645920"/>
            <a:ext cx="4960620" cy="4800600"/>
            <a:chOff x="6675120" y="1645920"/>
            <a:chExt cx="4960620" cy="4800600"/>
          </a:xfrm>
        </p:grpSpPr>
        <p:sp>
          <p:nvSpPr>
            <p:cNvPr id="15" name="TextBox 14"/>
            <p:cNvSpPr txBox="1"/>
            <p:nvPr/>
          </p:nvSpPr>
          <p:spPr>
            <a:xfrm>
              <a:off x="6675120" y="1828800"/>
              <a:ext cx="2240280" cy="457200"/>
            </a:xfrm>
            <a:prstGeom prst="rect">
              <a:avLst/>
            </a:prstGeom>
            <a:noFill/>
          </p:spPr>
          <p:txBody>
            <a:bodyPr wrap="square" lIns="0" rIns="0" tIns="0" bIns="0" anchor="t">
              <a:noAutofit/>
            </a:bodyPr>
            <a:lstStyle/>
            <a:p>
              <a:pPr algn="l">
                <a:lnSpc>
                  <a:spcPct val="108000"/>
                </a:lnSpc>
              </a:pPr>
              <a:r>
                <a:rPr sz="2400" b="1" i="0">
                  <a:solidFill>
                    <a:srgbClr val="0369A1"/>
                  </a:solidFill>
                  <a:latin typeface="Arial"/>
                </a:rPr>
                <a:t>Tap the link</a:t>
              </a:r>
            </a:p>
          </p:txBody>
        </p:sp>
        <p:sp>
          <p:nvSpPr>
            <p:cNvPr id="16" name="TextBox 15"/>
            <p:cNvSpPr txBox="1"/>
            <p:nvPr/>
          </p:nvSpPr>
          <p:spPr>
            <a:xfrm>
              <a:off x="6675120" y="2377440"/>
              <a:ext cx="2240280" cy="1828800"/>
            </a:xfrm>
            <a:prstGeom prst="rect">
              <a:avLst/>
            </a:prstGeom>
            <a:noFill/>
          </p:spPr>
          <p:txBody>
            <a:bodyPr wrap="square" lIns="0" rIns="0" tIns="0" bIns="0" anchor="t">
              <a:noAutofit/>
            </a:bodyPr>
            <a:lstStyle/>
            <a:p>
              <a:pPr algn="l">
                <a:lnSpc>
                  <a:spcPct val="110000"/>
                </a:lnSpc>
              </a:pPr>
              <a:r>
                <a:rPr sz="2000" b="0" i="0">
                  <a:solidFill>
                    <a:srgbClr val="0E1726"/>
                  </a:solidFill>
                  <a:latin typeface="Arial"/>
                </a:rPr>
                <a:t>Status, next step and progress, for this one report.</a:t>
              </a:r>
            </a:p>
          </p:txBody>
        </p:sp>
        <p:sp>
          <p:nvSpPr>
            <p:cNvPr id="17" name="TextBox 16"/>
            <p:cNvSpPr txBox="1"/>
            <p:nvPr/>
          </p:nvSpPr>
          <p:spPr>
            <a:xfrm>
              <a:off x="6675120" y="3886200"/>
              <a:ext cx="2240280" cy="1280160"/>
            </a:xfrm>
            <a:prstGeom prst="rect">
              <a:avLst/>
            </a:prstGeom>
            <a:noFill/>
          </p:spPr>
          <p:txBody>
            <a:bodyPr wrap="square" lIns="0" rIns="0" tIns="0" bIns="0" anchor="t">
              <a:noAutofit/>
            </a:bodyPr>
            <a:lstStyle/>
            <a:p>
              <a:pPr algn="l">
                <a:lnSpc>
                  <a:spcPct val="110000"/>
                </a:lnSpc>
              </a:pPr>
              <a:r>
                <a:rPr sz="2000" b="0" i="0">
                  <a:solidFill>
                    <a:srgbClr val="3B4859"/>
                  </a:solidFill>
                  <a:latin typeface="Arial"/>
                </a:rPr>
                <a:t>No report ID or name in the link.</a:t>
              </a:r>
            </a:p>
          </p:txBody>
        </p:sp>
        <p:sp>
          <p:nvSpPr>
            <p:cNvPr id="18" name="Rounded Rectangle 17"/>
            <p:cNvSpPr/>
            <p:nvPr/>
          </p:nvSpPr>
          <p:spPr>
            <a:xfrm>
              <a:off x="6675120" y="5257800"/>
              <a:ext cx="2240280" cy="868680"/>
            </a:xfrm>
            <a:prstGeom prst="roundRect">
              <a:avLst>
                <a:gd name="adj" fmla="val 16842"/>
              </a:avLst>
            </a:prstGeom>
            <a:solidFill>
              <a:srgbClr val="FC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46304" bIns="146304">
              <a:noAutofit/>
            </a:bodyPr>
            <a:lstStyle/>
            <a:p>
              <a:pPr algn="ctr">
                <a:lnSpc>
                  <a:spcPct val="108000"/>
                </a:lnSpc>
              </a:pPr>
              <a:r>
                <a:rPr sz="1800" b="1" i="0">
                  <a:solidFill>
                    <a:srgbClr val="7F4500"/>
                  </a:solidFill>
                  <a:latin typeface="Arial"/>
                </a:rPr>
                <a:t>Real page,</a:t>
              </a:r>
            </a:p>
            <a:p>
              <a:pPr algn="ctr">
                <a:lnSpc>
                  <a:spcPct val="108000"/>
                </a:lnSpc>
              </a:pPr>
              <a:r>
                <a:rPr sz="1800" b="1" i="0">
                  <a:solidFill>
                    <a:srgbClr val="7F4500"/>
                  </a:solidFill>
                  <a:latin typeface="Arial"/>
                </a:rPr>
                <a:t>synthetic data</a:t>
              </a:r>
            </a:p>
          </p:txBody>
        </p:sp>
        <p:pic>
          <p:nvPicPr>
            <p:cNvPr id="19" name="Picture 18" descr="resident-page.jpg"/>
            <p:cNvPicPr>
              <a:picLocks noChangeAspect="1"/>
            </p:cNvPicPr>
            <p:nvPr/>
          </p:nvPicPr>
          <p:blipFill>
            <a:blip r:embed="rId2"/>
            <a:stretch>
              <a:fillRect/>
            </a:stretch>
          </p:blipFill>
          <p:spPr>
            <a:xfrm>
              <a:off x="9235440" y="1645920"/>
              <a:ext cx="2400300" cy="4800600"/>
            </a:xfrm>
            <a:prstGeom prst="roundRect">
              <a:avLst>
                <a:gd name="adj" fmla="val 6857"/>
              </a:avLst>
            </a:prstGeom>
            <a:ln w="12700">
              <a:solidFill>
                <a:srgbClr val="C6D0DB"/>
              </a:solidFill>
            </a:ln>
          </p:spPr>
        </p:pic>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4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kicker"/>
          <p:cNvSpPr txBox="1"/>
          <p:nvPr/>
        </p:nvSpPr>
        <p:spPr>
          <a:xfrm>
            <a:off x="548640" y="384048"/>
            <a:ext cx="8229600" cy="365760"/>
          </a:xfrm>
          <a:prstGeom prst="rect">
            <a:avLst/>
          </a:prstGeom>
          <a:noFill/>
        </p:spPr>
        <p:txBody>
          <a:bodyPr wrap="square" lIns="0" rIns="0" tIns="0" bIns="0" anchor="t">
            <a:noAutofit/>
          </a:bodyPr>
          <a:lstStyle/>
          <a:p>
            <a:pPr algn="l">
              <a:lnSpc>
                <a:spcPct val="108000"/>
              </a:lnSpc>
            </a:pPr>
            <a:r>
              <a:rPr sz="1800" b="1" i="0">
                <a:solidFill>
                  <a:srgbClr val="0369A1"/>
                </a:solidFill>
                <a:latin typeface="Arial"/>
              </a:rPr>
              <a:t>DEMO · COUNCIL</a:t>
            </a:r>
          </a:p>
        </p:txBody>
      </p:sp>
      <p:sp>
        <p:nvSpPr>
          <p:cNvPr id="3" name="!!title"/>
          <p:cNvSpPr txBox="1"/>
          <p:nvPr/>
        </p:nvSpPr>
        <p:spPr>
          <a:xfrm>
            <a:off x="548640" y="713232"/>
            <a:ext cx="11064240" cy="685800"/>
          </a:xfrm>
          <a:prstGeom prst="rect">
            <a:avLst/>
          </a:prstGeom>
          <a:noFill/>
        </p:spPr>
        <p:txBody>
          <a:bodyPr wrap="square" lIns="0" rIns="0" tIns="0" bIns="0" anchor="t">
            <a:noAutofit/>
          </a:bodyPr>
          <a:lstStyle/>
          <a:p>
            <a:pPr algn="l">
              <a:lnSpc>
                <a:spcPct val="108000"/>
              </a:lnSpc>
            </a:pPr>
            <a:r>
              <a:rPr sz="3600" b="1" i="0">
                <a:solidFill>
                  <a:srgbClr val="0E1726"/>
                </a:solidFill>
                <a:latin typeface="Arial"/>
              </a:rPr>
              <a:t>Every report on one dashboard</a:t>
            </a:r>
          </a:p>
        </p:txBody>
      </p:sp>
      <p:sp>
        <p:nvSpPr>
          <p:cNvPr id="4" name="Rounded Rectangle 3"/>
          <p:cNvSpPr/>
          <p:nvPr/>
        </p:nvSpPr>
        <p:spPr>
          <a:xfrm>
            <a:off x="8549640" y="777240"/>
            <a:ext cx="3090672" cy="502920"/>
          </a:xfrm>
          <a:prstGeom prst="roundRect">
            <a:avLst>
              <a:gd name="adj" fmla="val 49090"/>
            </a:avLst>
          </a:prstGeom>
          <a:solidFill>
            <a:srgbClr val="FC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46304" bIns="146304">
            <a:noAutofit/>
          </a:bodyPr>
          <a:lstStyle/>
          <a:p>
            <a:pPr algn="ctr">
              <a:lnSpc>
                <a:spcPct val="108000"/>
              </a:lnSpc>
            </a:pPr>
            <a:r>
              <a:rPr sz="1800" b="1" i="0">
                <a:solidFill>
                  <a:srgbClr val="7F4500"/>
                </a:solidFill>
                <a:latin typeface="Arial"/>
              </a:rPr>
              <a:t>68 synthetic reports</a:t>
            </a:r>
          </a:p>
        </p:txBody>
      </p:sp>
      <p:pic>
        <p:nvPicPr>
          <p:cNvPr id="5" name="Dashboard desktop" descr="dashboard-list.jpg"/>
          <p:cNvPicPr>
            <a:picLocks noChangeAspect="1"/>
          </p:cNvPicPr>
          <p:nvPr/>
        </p:nvPicPr>
        <p:blipFill>
          <a:blip r:embed="rId2"/>
          <a:stretch>
            <a:fillRect/>
          </a:stretch>
        </p:blipFill>
        <p:spPr>
          <a:xfrm>
            <a:off x="1277340" y="1600200"/>
            <a:ext cx="6437376" cy="4023360"/>
          </a:xfrm>
          <a:prstGeom prst="roundRect">
            <a:avLst>
              <a:gd name="adj" fmla="val 2727"/>
            </a:avLst>
          </a:prstGeom>
          <a:ln w="12700">
            <a:solidFill>
              <a:srgbClr val="C6D0DB"/>
            </a:solidFill>
          </a:ln>
        </p:spPr>
      </p:pic>
      <p:grpSp>
        <p:nvGrpSpPr>
          <p:cNvPr id="6" name="Dashboard phone"/>
          <p:cNvGrpSpPr/>
          <p:nvPr/>
        </p:nvGrpSpPr>
        <p:grpSpPr>
          <a:xfrm>
            <a:off x="8080476" y="1600200"/>
            <a:ext cx="2833877" cy="4023360"/>
            <a:chOff x="8080476" y="1600200"/>
            <a:chExt cx="2833877" cy="4023360"/>
          </a:xfrm>
        </p:grpSpPr>
        <p:pic>
          <p:nvPicPr>
            <p:cNvPr id="7" name="Picture 6" descr="dashboard-phone.jpg"/>
            <p:cNvPicPr>
              <a:picLocks noChangeAspect="1"/>
            </p:cNvPicPr>
            <p:nvPr/>
          </p:nvPicPr>
          <p:blipFill>
            <a:blip r:embed="rId3"/>
            <a:stretch>
              <a:fillRect/>
            </a:stretch>
          </p:blipFill>
          <p:spPr>
            <a:xfrm>
              <a:off x="8080476" y="1600200"/>
              <a:ext cx="2833877" cy="4023360"/>
            </a:xfrm>
            <a:prstGeom prst="roundRect">
              <a:avLst>
                <a:gd name="adj" fmla="val 5808"/>
              </a:avLst>
            </a:prstGeom>
            <a:ln w="12700">
              <a:solidFill>
                <a:srgbClr val="C6D0DB"/>
              </a:solidFill>
            </a:ln>
          </p:spPr>
        </p:pic>
      </p:grpSp>
      <p:grpSp>
        <p:nvGrpSpPr>
          <p:cNvPr id="8" name="Dashboard features"/>
          <p:cNvGrpSpPr/>
          <p:nvPr/>
        </p:nvGrpSpPr>
        <p:grpSpPr>
          <a:xfrm>
            <a:off x="548640" y="5852160"/>
            <a:ext cx="11128248" cy="548640"/>
            <a:chOff x="548640" y="5852160"/>
            <a:chExt cx="11128248" cy="548640"/>
          </a:xfrm>
        </p:grpSpPr>
        <p:sp>
          <p:nvSpPr>
            <p:cNvPr id="9" name="Rounded Rectangle 8"/>
            <p:cNvSpPr/>
            <p:nvPr/>
          </p:nvSpPr>
          <p:spPr>
            <a:xfrm>
              <a:off x="548640" y="5852160"/>
              <a:ext cx="2679192" cy="548640"/>
            </a:xfrm>
            <a:prstGeom prst="roundRect">
              <a:avLst>
                <a:gd name="adj" fmla="val 50000"/>
              </a:avLst>
            </a:prstGeom>
            <a:solidFill>
              <a:srgbClr val="FFFFFF"/>
            </a:solidFill>
            <a:ln w="12700">
              <a:solidFill>
                <a:srgbClr val="C6D0D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noAutofit/>
            </a:bodyPr>
            <a:lstStyle/>
            <a:p>
              <a:pPr algn="ctr">
                <a:lnSpc>
                  <a:spcPct val="108000"/>
                </a:lnSpc>
              </a:pPr>
              <a:r>
                <a:rPr sz="1800" b="1" i="0">
                  <a:solidFill>
                    <a:srgbClr val="03507B"/>
                  </a:solidFill>
                  <a:latin typeface="Arial"/>
                </a:rPr>
                <a:t>Filters and search</a:t>
              </a:r>
            </a:p>
          </p:txBody>
        </p:sp>
        <p:sp>
          <p:nvSpPr>
            <p:cNvPr id="10" name="Rounded Rectangle 9"/>
            <p:cNvSpPr/>
            <p:nvPr/>
          </p:nvSpPr>
          <p:spPr>
            <a:xfrm>
              <a:off x="3364992" y="5852160"/>
              <a:ext cx="2679192" cy="548640"/>
            </a:xfrm>
            <a:prstGeom prst="roundRect">
              <a:avLst>
                <a:gd name="adj" fmla="val 50000"/>
              </a:avLst>
            </a:prstGeom>
            <a:solidFill>
              <a:srgbClr val="FFFFFF"/>
            </a:solidFill>
            <a:ln w="12700">
              <a:solidFill>
                <a:srgbClr val="C6D0D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noAutofit/>
            </a:bodyPr>
            <a:lstStyle/>
            <a:p>
              <a:pPr algn="ctr">
                <a:lnSpc>
                  <a:spcPct val="108000"/>
                </a:lnSpc>
              </a:pPr>
              <a:r>
                <a:rPr sz="1800" b="1" i="0">
                  <a:solidFill>
                    <a:srgbClr val="03507B"/>
                  </a:solidFill>
                  <a:latin typeface="Arial"/>
                </a:rPr>
                <a:t>Priority + reasons</a:t>
              </a:r>
            </a:p>
          </p:txBody>
        </p:sp>
        <p:sp>
          <p:nvSpPr>
            <p:cNvPr id="11" name="Rounded Rectangle 10"/>
            <p:cNvSpPr/>
            <p:nvPr/>
          </p:nvSpPr>
          <p:spPr>
            <a:xfrm>
              <a:off x="6181344" y="5852160"/>
              <a:ext cx="2679192" cy="548640"/>
            </a:xfrm>
            <a:prstGeom prst="roundRect">
              <a:avLst>
                <a:gd name="adj" fmla="val 50000"/>
              </a:avLst>
            </a:prstGeom>
            <a:solidFill>
              <a:srgbClr val="FFFFFF"/>
            </a:solidFill>
            <a:ln w="12700">
              <a:solidFill>
                <a:srgbClr val="C6D0D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noAutofit/>
            </a:bodyPr>
            <a:lstStyle/>
            <a:p>
              <a:pPr algn="ctr">
                <a:lnSpc>
                  <a:spcPct val="108000"/>
                </a:lnSpc>
              </a:pPr>
              <a:r>
                <a:rPr sz="1800" b="1" i="0">
                  <a:solidFill>
                    <a:srgbClr val="03507B"/>
                  </a:solidFill>
                  <a:latin typeface="Arial"/>
                </a:rPr>
                <a:t>Status in one click</a:t>
              </a:r>
            </a:p>
          </p:txBody>
        </p:sp>
        <p:sp>
          <p:nvSpPr>
            <p:cNvPr id="12" name="Rounded Rectangle 11"/>
            <p:cNvSpPr/>
            <p:nvPr/>
          </p:nvSpPr>
          <p:spPr>
            <a:xfrm>
              <a:off x="8997696" y="5852160"/>
              <a:ext cx="2679192" cy="548640"/>
            </a:xfrm>
            <a:prstGeom prst="roundRect">
              <a:avLst>
                <a:gd name="adj" fmla="val 50000"/>
              </a:avLst>
            </a:prstGeom>
            <a:solidFill>
              <a:srgbClr val="FFFFFF"/>
            </a:solidFill>
            <a:ln w="12700">
              <a:solidFill>
                <a:srgbClr val="C6D0D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noAutofit/>
            </a:bodyPr>
            <a:lstStyle/>
            <a:p>
              <a:pPr algn="ctr">
                <a:lnSpc>
                  <a:spcPct val="108000"/>
                </a:lnSpc>
              </a:pPr>
              <a:r>
                <a:rPr sz="1800" b="1" i="0">
                  <a:solidFill>
                    <a:srgbClr val="03507B"/>
                  </a:solidFill>
                  <a:latin typeface="Arial"/>
                </a:rPr>
                <a:t>Repeats joined up</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kicker"/>
          <p:cNvSpPr txBox="1"/>
          <p:nvPr/>
        </p:nvSpPr>
        <p:spPr>
          <a:xfrm>
            <a:off x="548640" y="384048"/>
            <a:ext cx="8229600" cy="365760"/>
          </a:xfrm>
          <a:prstGeom prst="rect">
            <a:avLst/>
          </a:prstGeom>
          <a:noFill/>
        </p:spPr>
        <p:txBody>
          <a:bodyPr wrap="square" lIns="0" rIns="0" tIns="0" bIns="0" anchor="t">
            <a:noAutofit/>
          </a:bodyPr>
          <a:lstStyle/>
          <a:p>
            <a:pPr algn="l">
              <a:lnSpc>
                <a:spcPct val="108000"/>
              </a:lnSpc>
            </a:pPr>
            <a:r>
              <a:rPr sz="1800" b="1" i="0">
                <a:solidFill>
                  <a:srgbClr val="0369A1"/>
                </a:solidFill>
                <a:latin typeface="Arial"/>
              </a:rPr>
              <a:t>SAFETY AND PRIVACY</a:t>
            </a:r>
          </a:p>
        </p:txBody>
      </p:sp>
      <p:sp>
        <p:nvSpPr>
          <p:cNvPr id="3" name="!!title"/>
          <p:cNvSpPr txBox="1"/>
          <p:nvPr/>
        </p:nvSpPr>
        <p:spPr>
          <a:xfrm>
            <a:off x="548640" y="713232"/>
            <a:ext cx="11064240" cy="685800"/>
          </a:xfrm>
          <a:prstGeom prst="rect">
            <a:avLst/>
          </a:prstGeom>
          <a:noFill/>
        </p:spPr>
        <p:txBody>
          <a:bodyPr wrap="square" lIns="0" rIns="0" tIns="0" bIns="0" anchor="t">
            <a:noAutofit/>
          </a:bodyPr>
          <a:lstStyle/>
          <a:p>
            <a:pPr algn="l">
              <a:lnSpc>
                <a:spcPct val="108000"/>
              </a:lnSpc>
            </a:pPr>
            <a:r>
              <a:rPr sz="3600" b="1" i="0">
                <a:solidFill>
                  <a:srgbClr val="0E1726"/>
                </a:solidFill>
                <a:latin typeface="Arial"/>
              </a:rPr>
              <a:t>Knows when to stop. Keeps almost nothing.</a:t>
            </a:r>
          </a:p>
        </p:txBody>
      </p:sp>
      <p:grpSp>
        <p:nvGrpSpPr>
          <p:cNvPr id="4" name="Safety column 1"/>
          <p:cNvGrpSpPr/>
          <p:nvPr/>
        </p:nvGrpSpPr>
        <p:grpSpPr>
          <a:xfrm>
            <a:off x="548640" y="1645920"/>
            <a:ext cx="5440680" cy="3611880"/>
            <a:chOff x="548640" y="1645920"/>
            <a:chExt cx="5440680" cy="3611880"/>
          </a:xfrm>
        </p:grpSpPr>
        <p:sp>
          <p:nvSpPr>
            <p:cNvPr id="5" name="Rounded Rectangle 4"/>
            <p:cNvSpPr/>
            <p:nvPr/>
          </p:nvSpPr>
          <p:spPr>
            <a:xfrm>
              <a:off x="548640" y="1645920"/>
              <a:ext cx="5440680" cy="3611880"/>
            </a:xfrm>
            <a:prstGeom prst="roundRect">
              <a:avLst>
                <a:gd name="adj" fmla="val 3544"/>
              </a:avLst>
            </a:prstGeom>
            <a:solidFill>
              <a:srgbClr val="FFFFFF"/>
            </a:solidFill>
            <a:ln w="12700">
              <a:solidFill>
                <a:srgbClr val="C6D0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810512"/>
              <a:ext cx="4937760" cy="457200"/>
            </a:xfrm>
            <a:prstGeom prst="rect">
              <a:avLst/>
            </a:prstGeom>
            <a:noFill/>
          </p:spPr>
          <p:txBody>
            <a:bodyPr wrap="square" lIns="0" rIns="0" tIns="0" bIns="0" anchor="t">
              <a:noAutofit/>
            </a:bodyPr>
            <a:lstStyle/>
            <a:p>
              <a:pPr algn="l">
                <a:lnSpc>
                  <a:spcPct val="108000"/>
                </a:lnSpc>
              </a:pPr>
              <a:r>
                <a:rPr sz="2400" b="1" i="0">
                  <a:solidFill>
                    <a:srgbClr val="03507B"/>
                  </a:solidFill>
                  <a:latin typeface="Arial"/>
                </a:rPr>
                <a:t>Points elsewhere, saves nothing</a:t>
              </a:r>
            </a:p>
          </p:txBody>
        </p:sp>
        <p:sp>
          <p:nvSpPr>
            <p:cNvPr id="7" name="TextBox 6"/>
            <p:cNvSpPr txBox="1"/>
            <p:nvPr/>
          </p:nvSpPr>
          <p:spPr>
            <a:xfrm>
              <a:off x="822959" y="2468880"/>
              <a:ext cx="4983480" cy="640080"/>
            </a:xfrm>
            <a:prstGeom prst="rect">
              <a:avLst/>
            </a:prstGeom>
            <a:noFill/>
          </p:spPr>
          <p:txBody>
            <a:bodyPr wrap="square" lIns="0" rIns="0" tIns="0" bIns="0" anchor="t">
              <a:noAutofit/>
            </a:bodyPr>
            <a:lstStyle/>
            <a:p>
              <a:pPr algn="l">
                <a:lnSpc>
                  <a:spcPct val="108000"/>
                </a:lnSpc>
              </a:pPr>
              <a:r>
                <a:rPr sz="2000" b="1" i="0">
                  <a:solidFill>
                    <a:srgbClr val="0E1726"/>
                  </a:solidFill>
                  <a:latin typeface="Arial"/>
                </a:rPr>
                <a:t>Emergency  </a:t>
              </a:r>
              <a:r>
                <a:rPr sz="2000" b="0" i="0">
                  <a:solidFill>
                    <a:srgbClr val="3B4859"/>
                  </a:solidFill>
                  <a:latin typeface="Arial"/>
                </a:rPr>
                <a:t>“Call 999 now.”</a:t>
              </a:r>
            </a:p>
          </p:txBody>
        </p:sp>
        <p:sp>
          <p:nvSpPr>
            <p:cNvPr id="8" name="TextBox 7"/>
            <p:cNvSpPr txBox="1"/>
            <p:nvPr/>
          </p:nvSpPr>
          <p:spPr>
            <a:xfrm>
              <a:off x="822959" y="3145536"/>
              <a:ext cx="4983480" cy="640080"/>
            </a:xfrm>
            <a:prstGeom prst="rect">
              <a:avLst/>
            </a:prstGeom>
            <a:noFill/>
          </p:spPr>
          <p:txBody>
            <a:bodyPr wrap="square" lIns="0" rIns="0" tIns="0" bIns="0" anchor="t">
              <a:noAutofit/>
            </a:bodyPr>
            <a:lstStyle/>
            <a:p>
              <a:pPr algn="l">
                <a:lnSpc>
                  <a:spcPct val="108000"/>
                </a:lnSpc>
              </a:pPr>
              <a:r>
                <a:rPr sz="2000" b="1" i="0">
                  <a:solidFill>
                    <a:srgbClr val="0E1726"/>
                  </a:solidFill>
                  <a:latin typeface="Arial"/>
                </a:rPr>
                <a:t>Outside the city  </a:t>
              </a:r>
              <a:r>
                <a:rPr sz="2000" b="0" i="0">
                  <a:solidFill>
                    <a:srgbClr val="3B4859"/>
                  </a:solidFill>
                  <a:latin typeface="Arial"/>
                </a:rPr>
                <a:t>their own council</a:t>
              </a:r>
            </a:p>
          </p:txBody>
        </p:sp>
        <p:sp>
          <p:nvSpPr>
            <p:cNvPr id="9" name="TextBox 8"/>
            <p:cNvSpPr txBox="1"/>
            <p:nvPr/>
          </p:nvSpPr>
          <p:spPr>
            <a:xfrm>
              <a:off x="822959" y="3822191"/>
              <a:ext cx="4983480" cy="640080"/>
            </a:xfrm>
            <a:prstGeom prst="rect">
              <a:avLst/>
            </a:prstGeom>
            <a:noFill/>
          </p:spPr>
          <p:txBody>
            <a:bodyPr wrap="square" lIns="0" rIns="0" tIns="0" bIns="0" anchor="t">
              <a:noAutofit/>
            </a:bodyPr>
            <a:lstStyle/>
            <a:p>
              <a:pPr algn="l">
                <a:lnSpc>
                  <a:spcPct val="108000"/>
                </a:lnSpc>
              </a:pPr>
              <a:r>
                <a:rPr sz="2000" b="1" i="0">
                  <a:solidFill>
                    <a:srgbClr val="0E1726"/>
                  </a:solidFill>
                  <a:latin typeface="Arial"/>
                </a:rPr>
                <a:t>Not council  </a:t>
              </a:r>
              <a:r>
                <a:rPr sz="2000" b="0" i="0">
                  <a:solidFill>
                    <a:srgbClr val="3B4859"/>
                  </a:solidFill>
                  <a:latin typeface="Arial"/>
                </a:rPr>
                <a:t>National Highways, utility</a:t>
              </a:r>
            </a:p>
          </p:txBody>
        </p:sp>
        <p:sp>
          <p:nvSpPr>
            <p:cNvPr id="10" name="TextBox 9"/>
            <p:cNvSpPr txBox="1"/>
            <p:nvPr/>
          </p:nvSpPr>
          <p:spPr>
            <a:xfrm>
              <a:off x="822959" y="4498848"/>
              <a:ext cx="4983480" cy="640080"/>
            </a:xfrm>
            <a:prstGeom prst="rect">
              <a:avLst/>
            </a:prstGeom>
            <a:noFill/>
          </p:spPr>
          <p:txBody>
            <a:bodyPr wrap="square" lIns="0" rIns="0" tIns="0" bIns="0" anchor="t">
              <a:noAutofit/>
            </a:bodyPr>
            <a:lstStyle/>
            <a:p>
              <a:pPr algn="l">
                <a:lnSpc>
                  <a:spcPct val="108000"/>
                </a:lnSpc>
              </a:pPr>
              <a:r>
                <a:rPr sz="2000" b="1" i="0">
                  <a:solidFill>
                    <a:srgbClr val="0E1726"/>
                  </a:solidFill>
                  <a:latin typeface="Arial"/>
                </a:rPr>
                <a:t>Neighbour issues  </a:t>
              </a:r>
              <a:r>
                <a:rPr sz="2000" b="0" i="0">
                  <a:solidFill>
                    <a:srgbClr val="3B4859"/>
                  </a:solidFill>
                  <a:latin typeface="Arial"/>
                </a:rPr>
                <a:t>the council's own form</a:t>
              </a:r>
            </a:p>
          </p:txBody>
        </p:sp>
      </p:grpSp>
      <p:grpSp>
        <p:nvGrpSpPr>
          <p:cNvPr id="11" name="Safety column 2"/>
          <p:cNvGrpSpPr/>
          <p:nvPr/>
        </p:nvGrpSpPr>
        <p:grpSpPr>
          <a:xfrm>
            <a:off x="6199631" y="1645920"/>
            <a:ext cx="5440680" cy="3611880"/>
            <a:chOff x="6199631" y="1645920"/>
            <a:chExt cx="5440680" cy="3611880"/>
          </a:xfrm>
        </p:grpSpPr>
        <p:sp>
          <p:nvSpPr>
            <p:cNvPr id="12" name="Rounded Rectangle 11"/>
            <p:cNvSpPr/>
            <p:nvPr/>
          </p:nvSpPr>
          <p:spPr>
            <a:xfrm>
              <a:off x="6199631" y="1645920"/>
              <a:ext cx="5440680" cy="3611880"/>
            </a:xfrm>
            <a:prstGeom prst="roundRect">
              <a:avLst>
                <a:gd name="adj" fmla="val 3544"/>
              </a:avLst>
            </a:prstGeom>
            <a:solidFill>
              <a:srgbClr val="FFFFFF"/>
            </a:solidFill>
            <a:ln w="12700">
              <a:solidFill>
                <a:srgbClr val="C6D0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1" y="1810512"/>
              <a:ext cx="4937760" cy="457200"/>
            </a:xfrm>
            <a:prstGeom prst="rect">
              <a:avLst/>
            </a:prstGeom>
            <a:noFill/>
          </p:spPr>
          <p:txBody>
            <a:bodyPr wrap="square" lIns="0" rIns="0" tIns="0" bIns="0" anchor="t">
              <a:noAutofit/>
            </a:bodyPr>
            <a:lstStyle/>
            <a:p>
              <a:pPr algn="l">
                <a:lnSpc>
                  <a:spcPct val="108000"/>
                </a:lnSpc>
              </a:pPr>
              <a:r>
                <a:rPr sz="2400" b="1" i="0">
                  <a:solidFill>
                    <a:srgbClr val="03507B"/>
                  </a:solidFill>
                  <a:latin typeface="Arial"/>
                </a:rPr>
                <a:t>What a report keeps</a:t>
              </a:r>
            </a:p>
          </p:txBody>
        </p:sp>
        <p:sp>
          <p:nvSpPr>
            <p:cNvPr id="14" name="TextBox 13"/>
            <p:cNvSpPr txBox="1"/>
            <p:nvPr/>
          </p:nvSpPr>
          <p:spPr>
            <a:xfrm>
              <a:off x="6473951" y="2468880"/>
              <a:ext cx="4983480" cy="640080"/>
            </a:xfrm>
            <a:prstGeom prst="rect">
              <a:avLst/>
            </a:prstGeom>
            <a:noFill/>
          </p:spPr>
          <p:txBody>
            <a:bodyPr wrap="square" lIns="0" rIns="0" tIns="0" bIns="0" anchor="t">
              <a:noAutofit/>
            </a:bodyPr>
            <a:lstStyle/>
            <a:p>
              <a:pPr algn="l">
                <a:lnSpc>
                  <a:spcPct val="108000"/>
                </a:lnSpc>
              </a:pPr>
              <a:r>
                <a:rPr sz="2000" b="1" i="0">
                  <a:solidFill>
                    <a:srgbClr val="0E1726"/>
                  </a:solidFill>
                  <a:latin typeface="Arial"/>
                </a:rPr>
                <a:t>Who  </a:t>
              </a:r>
              <a:r>
                <a:rPr sz="2000" b="0" i="0">
                  <a:solidFill>
                    <a:srgbClr val="3B4859"/>
                  </a:solidFill>
                  <a:latin typeface="Arial"/>
                </a:rPr>
                <a:t>a salted hash, not the number</a:t>
              </a:r>
            </a:p>
          </p:txBody>
        </p:sp>
        <p:sp>
          <p:nvSpPr>
            <p:cNvPr id="15" name="TextBox 14"/>
            <p:cNvSpPr txBox="1"/>
            <p:nvPr/>
          </p:nvSpPr>
          <p:spPr>
            <a:xfrm>
              <a:off x="6473951" y="3145536"/>
              <a:ext cx="4983480" cy="640080"/>
            </a:xfrm>
            <a:prstGeom prst="rect">
              <a:avLst/>
            </a:prstGeom>
            <a:noFill/>
          </p:spPr>
          <p:txBody>
            <a:bodyPr wrap="square" lIns="0" rIns="0" tIns="0" bIns="0" anchor="t">
              <a:noAutofit/>
            </a:bodyPr>
            <a:lstStyle/>
            <a:p>
              <a:pPr algn="l">
                <a:lnSpc>
                  <a:spcPct val="108000"/>
                </a:lnSpc>
              </a:pPr>
              <a:r>
                <a:rPr sz="2000" b="1" i="0">
                  <a:solidFill>
                    <a:srgbClr val="0E1726"/>
                  </a:solidFill>
                  <a:latin typeface="Arial"/>
                </a:rPr>
                <a:t>Link  </a:t>
              </a:r>
              <a:r>
                <a:rPr sz="2000" b="0" i="0">
                  <a:solidFill>
                    <a:srgbClr val="3B4859"/>
                  </a:solidFill>
                  <a:latin typeface="Arial"/>
                </a:rPr>
                <a:t>random 16-character token</a:t>
              </a:r>
            </a:p>
          </p:txBody>
        </p:sp>
        <p:sp>
          <p:nvSpPr>
            <p:cNvPr id="16" name="TextBox 15"/>
            <p:cNvSpPr txBox="1"/>
            <p:nvPr/>
          </p:nvSpPr>
          <p:spPr>
            <a:xfrm>
              <a:off x="6473951" y="3822191"/>
              <a:ext cx="4983480" cy="640080"/>
            </a:xfrm>
            <a:prstGeom prst="rect">
              <a:avLst/>
            </a:prstGeom>
            <a:noFill/>
          </p:spPr>
          <p:txBody>
            <a:bodyPr wrap="square" lIns="0" rIns="0" tIns="0" bIns="0" anchor="t">
              <a:noAutofit/>
            </a:bodyPr>
            <a:lstStyle/>
            <a:p>
              <a:pPr algn="l">
                <a:lnSpc>
                  <a:spcPct val="108000"/>
                </a:lnSpc>
              </a:pPr>
              <a:r>
                <a:rPr sz="2000" b="1" i="0">
                  <a:solidFill>
                    <a:srgbClr val="0E1726"/>
                  </a:solidFill>
                  <a:latin typeface="Arial"/>
                </a:rPr>
                <a:t>Where  </a:t>
              </a:r>
              <a:r>
                <a:rPr sz="2000" b="0" i="0">
                  <a:solidFill>
                    <a:srgbClr val="3B4859"/>
                  </a:solidFill>
                  <a:latin typeface="Arial"/>
                </a:rPr>
                <a:t>the street, no coordinates</a:t>
              </a:r>
            </a:p>
          </p:txBody>
        </p:sp>
        <p:sp>
          <p:nvSpPr>
            <p:cNvPr id="17" name="TextBox 16"/>
            <p:cNvSpPr txBox="1"/>
            <p:nvPr/>
          </p:nvSpPr>
          <p:spPr>
            <a:xfrm>
              <a:off x="6473951" y="4498848"/>
              <a:ext cx="4983480" cy="640080"/>
            </a:xfrm>
            <a:prstGeom prst="rect">
              <a:avLst/>
            </a:prstGeom>
            <a:noFill/>
          </p:spPr>
          <p:txBody>
            <a:bodyPr wrap="square" lIns="0" rIns="0" tIns="0" bIns="0" anchor="t">
              <a:noAutofit/>
            </a:bodyPr>
            <a:lstStyle/>
            <a:p>
              <a:pPr algn="l">
                <a:lnSpc>
                  <a:spcPct val="108000"/>
                </a:lnSpc>
              </a:pPr>
              <a:r>
                <a:rPr sz="2000" b="1" i="0">
                  <a:solidFill>
                    <a:srgbClr val="0E1726"/>
                  </a:solidFill>
                  <a:latin typeface="Arial"/>
                </a:rPr>
                <a:t>Dashboard  </a:t>
              </a:r>
              <a:r>
                <a:rPr sz="2000" b="0" i="0">
                  <a:solidFill>
                    <a:srgbClr val="3B4859"/>
                  </a:solidFill>
                  <a:latin typeface="Arial"/>
                </a:rPr>
                <a:t>staff only, password</a:t>
              </a:r>
            </a:p>
          </p:txBody>
        </p:sp>
      </p:grpSp>
      <p:grpSp>
        <p:nvGrpSpPr>
          <p:cNvPr id="18" name="Credits"/>
          <p:cNvGrpSpPr/>
          <p:nvPr/>
        </p:nvGrpSpPr>
        <p:grpSpPr>
          <a:xfrm>
            <a:off x="548640" y="5440680"/>
            <a:ext cx="11091672" cy="914400"/>
            <a:chOff x="548640" y="5440680"/>
            <a:chExt cx="11091672" cy="914400"/>
          </a:xfrm>
        </p:grpSpPr>
        <p:sp>
          <p:nvSpPr>
            <p:cNvPr id="19" name="Rounded Rectangle 18"/>
            <p:cNvSpPr/>
            <p:nvPr/>
          </p:nvSpPr>
          <p:spPr>
            <a:xfrm>
              <a:off x="548640" y="5440680"/>
              <a:ext cx="11091672" cy="914400"/>
            </a:xfrm>
            <a:prstGeom prst="roundRect">
              <a:avLst>
                <a:gd name="adj" fmla="val 14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440680"/>
              <a:ext cx="10652760" cy="914400"/>
            </a:xfrm>
            <a:prstGeom prst="rect">
              <a:avLst/>
            </a:prstGeom>
            <a:noFill/>
          </p:spPr>
          <p:txBody>
            <a:bodyPr wrap="square" lIns="0" rIns="0" tIns="0" bIns="0" anchor="ctr">
              <a:noAutofit/>
            </a:bodyPr>
            <a:lstStyle/>
            <a:p>
              <a:pPr algn="l">
                <a:lnSpc>
                  <a:spcPct val="108000"/>
                </a:lnSpc>
              </a:pPr>
              <a:r>
                <a:rPr sz="1800" b="1" i="0">
                  <a:solidFill>
                    <a:srgbClr val="0E1726"/>
                  </a:solidFill>
                  <a:latin typeface="Arial"/>
                </a:rPr>
                <a:t>Credits  </a:t>
              </a:r>
              <a:r>
                <a:rPr sz="1800" b="0" i="0">
                  <a:solidFill>
                    <a:srgbClr val="3B4859"/>
                  </a:solidFill>
                  <a:latin typeface="Arial"/>
                </a:rPr>
                <a:t>Facts: Southampton City Council web pages, checked 17 Oct 2026 · Testing only: FixMyStreet reports (mySociety), via Open311 · Streets and city boundary: © OpenStreetMap contributors, ODbL</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kicker"/>
          <p:cNvSpPr txBox="1"/>
          <p:nvPr/>
        </p:nvSpPr>
        <p:spPr>
          <a:xfrm>
            <a:off x="548640" y="384048"/>
            <a:ext cx="8229600" cy="365760"/>
          </a:xfrm>
          <a:prstGeom prst="rect">
            <a:avLst/>
          </a:prstGeom>
          <a:noFill/>
        </p:spPr>
        <p:txBody>
          <a:bodyPr wrap="square" lIns="0" rIns="0" tIns="0" bIns="0" anchor="t">
            <a:noAutofit/>
          </a:bodyPr>
          <a:lstStyle/>
          <a:p>
            <a:pPr algn="l">
              <a:lnSpc>
                <a:spcPct val="108000"/>
              </a:lnSpc>
            </a:pPr>
            <a:r>
              <a:rPr sz="1800" b="1" i="0">
                <a:solidFill>
                  <a:srgbClr val="0369A1"/>
                </a:solidFill>
                <a:latin typeface="Arial"/>
              </a:rPr>
              <a:t>RESULTS</a:t>
            </a:r>
          </a:p>
        </p:txBody>
      </p:sp>
      <p:sp>
        <p:nvSpPr>
          <p:cNvPr id="3" name="!!title"/>
          <p:cNvSpPr txBox="1"/>
          <p:nvPr/>
        </p:nvSpPr>
        <p:spPr>
          <a:xfrm>
            <a:off x="548640" y="713232"/>
            <a:ext cx="11064240" cy="685800"/>
          </a:xfrm>
          <a:prstGeom prst="rect">
            <a:avLst/>
          </a:prstGeom>
          <a:noFill/>
        </p:spPr>
        <p:txBody>
          <a:bodyPr wrap="square" lIns="0" rIns="0" tIns="0" bIns="0" anchor="t">
            <a:noAutofit/>
          </a:bodyPr>
          <a:lstStyle/>
          <a:p>
            <a:pPr algn="l">
              <a:lnSpc>
                <a:spcPct val="108000"/>
              </a:lnSpc>
            </a:pPr>
            <a:r>
              <a:rPr sz="3600" b="1" i="0">
                <a:solidFill>
                  <a:srgbClr val="0E1726"/>
                </a:solidFill>
                <a:latin typeface="Arial"/>
              </a:rPr>
              <a:t>What we measured: wins and losses</a:t>
            </a:r>
          </a:p>
        </p:txBody>
      </p:sp>
      <p:grpSp>
        <p:nvGrpSpPr>
          <p:cNvPr id="4" name="Stat 1"/>
          <p:cNvGrpSpPr/>
          <p:nvPr/>
        </p:nvGrpSpPr>
        <p:grpSpPr>
          <a:xfrm>
            <a:off x="548640" y="1645920"/>
            <a:ext cx="2606040" cy="2148840"/>
            <a:chOff x="548640" y="1645920"/>
            <a:chExt cx="2606040" cy="2148840"/>
          </a:xfrm>
        </p:grpSpPr>
        <p:sp>
          <p:nvSpPr>
            <p:cNvPr id="5" name="Rounded Rectangle 4"/>
            <p:cNvSpPr/>
            <p:nvPr/>
          </p:nvSpPr>
          <p:spPr>
            <a:xfrm>
              <a:off x="548640" y="1645920"/>
              <a:ext cx="2606040" cy="2148840"/>
            </a:xfrm>
            <a:prstGeom prst="roundRect">
              <a:avLst>
                <a:gd name="adj" fmla="val 5957"/>
              </a:avLst>
            </a:prstGeom>
            <a:solidFill>
              <a:srgbClr val="FFFFFF"/>
            </a:solidFill>
            <a:ln w="12700">
              <a:solidFill>
                <a:srgbClr val="C6D0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2194560" cy="777240"/>
            </a:xfrm>
            <a:prstGeom prst="rect">
              <a:avLst/>
            </a:prstGeom>
            <a:noFill/>
          </p:spPr>
          <p:txBody>
            <a:bodyPr wrap="square" lIns="0" rIns="0" tIns="0" bIns="0" anchor="ctr">
              <a:noAutofit/>
            </a:bodyPr>
            <a:lstStyle/>
            <a:p>
              <a:pPr algn="l">
                <a:lnSpc>
                  <a:spcPct val="108000"/>
                </a:lnSpc>
              </a:pPr>
              <a:r>
                <a:rPr sz="3600" b="1" i="0">
                  <a:solidFill>
                    <a:srgbClr val="0369A1"/>
                  </a:solidFill>
                  <a:latin typeface="Arial"/>
                </a:rPr>
                <a:t>42%</a:t>
              </a:r>
            </a:p>
          </p:txBody>
        </p:sp>
        <p:sp>
          <p:nvSpPr>
            <p:cNvPr id="7" name="TextBox 6"/>
            <p:cNvSpPr txBox="1"/>
            <p:nvPr/>
          </p:nvSpPr>
          <p:spPr>
            <a:xfrm>
              <a:off x="777240" y="2651760"/>
              <a:ext cx="2194560" cy="1051560"/>
            </a:xfrm>
            <a:prstGeom prst="rect">
              <a:avLst/>
            </a:prstGeom>
            <a:noFill/>
          </p:spPr>
          <p:txBody>
            <a:bodyPr wrap="square" lIns="0" rIns="0" tIns="0" bIns="0" anchor="t">
              <a:noAutofit/>
            </a:bodyPr>
            <a:lstStyle/>
            <a:p>
              <a:pPr algn="l">
                <a:lnSpc>
                  <a:spcPct val="108000"/>
                </a:lnSpc>
              </a:pPr>
              <a:r>
                <a:rPr sz="2000" b="0" i="0">
                  <a:solidFill>
                    <a:srgbClr val="0E1726"/>
                  </a:solidFill>
                  <a:latin typeface="Arial"/>
                </a:rPr>
                <a:t>Keyword baseline: 20 of 48 categories right</a:t>
              </a:r>
            </a:p>
          </p:txBody>
        </p:sp>
      </p:grpSp>
      <p:grpSp>
        <p:nvGrpSpPr>
          <p:cNvPr id="8" name="Stat 2"/>
          <p:cNvGrpSpPr/>
          <p:nvPr/>
        </p:nvGrpSpPr>
        <p:grpSpPr>
          <a:xfrm>
            <a:off x="3374136" y="1645920"/>
            <a:ext cx="2606040" cy="2148840"/>
            <a:chOff x="3374136" y="1645920"/>
            <a:chExt cx="2606040" cy="2148840"/>
          </a:xfrm>
        </p:grpSpPr>
        <p:sp>
          <p:nvSpPr>
            <p:cNvPr id="9" name="Rounded Rectangle 8"/>
            <p:cNvSpPr/>
            <p:nvPr/>
          </p:nvSpPr>
          <p:spPr>
            <a:xfrm>
              <a:off x="3374136" y="1645920"/>
              <a:ext cx="2606040" cy="2148840"/>
            </a:xfrm>
            <a:prstGeom prst="roundRect">
              <a:avLst>
                <a:gd name="adj" fmla="val 5957"/>
              </a:avLst>
            </a:prstGeom>
            <a:solidFill>
              <a:srgbClr val="FFFFFF"/>
            </a:solidFill>
            <a:ln w="12700">
              <a:solidFill>
                <a:srgbClr val="C6D0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2736" y="1783080"/>
              <a:ext cx="2194560" cy="777240"/>
            </a:xfrm>
            <a:prstGeom prst="rect">
              <a:avLst/>
            </a:prstGeom>
            <a:noFill/>
          </p:spPr>
          <p:txBody>
            <a:bodyPr wrap="square" lIns="0" rIns="0" tIns="0" bIns="0" anchor="ctr">
              <a:noAutofit/>
            </a:bodyPr>
            <a:lstStyle/>
            <a:p>
              <a:pPr algn="l">
                <a:lnSpc>
                  <a:spcPct val="108000"/>
                </a:lnSpc>
              </a:pPr>
              <a:r>
                <a:rPr sz="2400" b="1" i="0">
                  <a:solidFill>
                    <a:srgbClr val="556273"/>
                  </a:solidFill>
                  <a:latin typeface="Arial"/>
                </a:rPr>
                <a:t>Not measured yet</a:t>
              </a:r>
            </a:p>
          </p:txBody>
        </p:sp>
        <p:sp>
          <p:nvSpPr>
            <p:cNvPr id="11" name="TextBox 10"/>
            <p:cNvSpPr txBox="1"/>
            <p:nvPr/>
          </p:nvSpPr>
          <p:spPr>
            <a:xfrm>
              <a:off x="3602736" y="2651760"/>
              <a:ext cx="2194560" cy="1051560"/>
            </a:xfrm>
            <a:prstGeom prst="rect">
              <a:avLst/>
            </a:prstGeom>
            <a:noFill/>
          </p:spPr>
          <p:txBody>
            <a:bodyPr wrap="square" lIns="0" rIns="0" tIns="0" bIns="0" anchor="t">
              <a:noAutofit/>
            </a:bodyPr>
            <a:lstStyle/>
            <a:p>
              <a:pPr algn="l">
                <a:lnSpc>
                  <a:spcPct val="108000"/>
                </a:lnSpc>
              </a:pPr>
              <a:r>
                <a:rPr sz="2000" b="0" i="0">
                  <a:solidFill>
                    <a:srgbClr val="0E1726"/>
                  </a:solidFill>
                  <a:latin typeface="Arial"/>
                </a:rPr>
                <a:t>Our agent's category accuracy</a:t>
              </a:r>
            </a:p>
          </p:txBody>
        </p:sp>
      </p:grpSp>
      <p:grpSp>
        <p:nvGrpSpPr>
          <p:cNvPr id="12" name="Stat 3"/>
          <p:cNvGrpSpPr/>
          <p:nvPr/>
        </p:nvGrpSpPr>
        <p:grpSpPr>
          <a:xfrm>
            <a:off x="6199631" y="1645920"/>
            <a:ext cx="2606040" cy="2148840"/>
            <a:chOff x="6199631" y="1645920"/>
            <a:chExt cx="2606040" cy="2148840"/>
          </a:xfrm>
        </p:grpSpPr>
        <p:sp>
          <p:nvSpPr>
            <p:cNvPr id="13" name="Rounded Rectangle 12"/>
            <p:cNvSpPr/>
            <p:nvPr/>
          </p:nvSpPr>
          <p:spPr>
            <a:xfrm>
              <a:off x="6199631" y="1645920"/>
              <a:ext cx="2606040" cy="2148840"/>
            </a:xfrm>
            <a:prstGeom prst="roundRect">
              <a:avLst>
                <a:gd name="adj" fmla="val 5957"/>
              </a:avLst>
            </a:prstGeom>
            <a:solidFill>
              <a:srgbClr val="FFFFFF"/>
            </a:solidFill>
            <a:ln w="12700">
              <a:solidFill>
                <a:srgbClr val="C6D0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1783080"/>
              <a:ext cx="2194560" cy="777240"/>
            </a:xfrm>
            <a:prstGeom prst="rect">
              <a:avLst/>
            </a:prstGeom>
            <a:noFill/>
          </p:spPr>
          <p:txBody>
            <a:bodyPr wrap="square" lIns="0" rIns="0" tIns="0" bIns="0" anchor="ctr">
              <a:noAutofit/>
            </a:bodyPr>
            <a:lstStyle/>
            <a:p>
              <a:pPr algn="l">
                <a:lnSpc>
                  <a:spcPct val="108000"/>
                </a:lnSpc>
              </a:pPr>
              <a:r>
                <a:rPr sz="3600" b="1" i="0">
                  <a:solidFill>
                    <a:srgbClr val="0369A1"/>
                  </a:solidFill>
                  <a:latin typeface="Arial"/>
                </a:rPr>
                <a:t>8 of 10</a:t>
              </a:r>
            </a:p>
          </p:txBody>
        </p:sp>
        <p:sp>
          <p:nvSpPr>
            <p:cNvPr id="15" name="TextBox 14"/>
            <p:cNvSpPr txBox="1"/>
            <p:nvPr/>
          </p:nvSpPr>
          <p:spPr>
            <a:xfrm>
              <a:off x="6428231" y="2651760"/>
              <a:ext cx="2194560" cy="1051560"/>
            </a:xfrm>
            <a:prstGeom prst="rect">
              <a:avLst/>
            </a:prstGeom>
            <a:noFill/>
          </p:spPr>
          <p:txBody>
            <a:bodyPr wrap="square" lIns="0" rIns="0" tIns="0" bIns="0" anchor="t">
              <a:noAutofit/>
            </a:bodyPr>
            <a:lstStyle/>
            <a:p>
              <a:pPr algn="l">
                <a:lnSpc>
                  <a:spcPct val="108000"/>
                </a:lnSpc>
              </a:pPr>
              <a:r>
                <a:rPr sz="2000" b="0" i="0">
                  <a:solidFill>
                    <a:srgbClr val="0E1726"/>
                  </a:solidFill>
                  <a:latin typeface="Arial"/>
                </a:rPr>
                <a:t>real repeats caught by the duplicate rule</a:t>
              </a:r>
            </a:p>
          </p:txBody>
        </p:sp>
      </p:grpSp>
      <p:grpSp>
        <p:nvGrpSpPr>
          <p:cNvPr id="16" name="Stat 4"/>
          <p:cNvGrpSpPr/>
          <p:nvPr/>
        </p:nvGrpSpPr>
        <p:grpSpPr>
          <a:xfrm>
            <a:off x="9025128" y="1645920"/>
            <a:ext cx="2606040" cy="2148840"/>
            <a:chOff x="9025128" y="1645920"/>
            <a:chExt cx="2606040" cy="2148840"/>
          </a:xfrm>
        </p:grpSpPr>
        <p:sp>
          <p:nvSpPr>
            <p:cNvPr id="17" name="Rounded Rectangle 16"/>
            <p:cNvSpPr/>
            <p:nvPr/>
          </p:nvSpPr>
          <p:spPr>
            <a:xfrm>
              <a:off x="9025128" y="1645920"/>
              <a:ext cx="2606040" cy="2148840"/>
            </a:xfrm>
            <a:prstGeom prst="roundRect">
              <a:avLst>
                <a:gd name="adj" fmla="val 5957"/>
              </a:avLst>
            </a:prstGeom>
            <a:solidFill>
              <a:srgbClr val="FFFFFF"/>
            </a:solidFill>
            <a:ln w="12700">
              <a:solidFill>
                <a:srgbClr val="C6D0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53728" y="1783080"/>
              <a:ext cx="2194560" cy="777240"/>
            </a:xfrm>
            <a:prstGeom prst="rect">
              <a:avLst/>
            </a:prstGeom>
            <a:noFill/>
          </p:spPr>
          <p:txBody>
            <a:bodyPr wrap="square" lIns="0" rIns="0" tIns="0" bIns="0" anchor="ctr">
              <a:noAutofit/>
            </a:bodyPr>
            <a:lstStyle/>
            <a:p>
              <a:pPr algn="l">
                <a:lnSpc>
                  <a:spcPct val="108000"/>
                </a:lnSpc>
              </a:pPr>
              <a:r>
                <a:rPr sz="3600" b="1" i="0">
                  <a:solidFill>
                    <a:srgbClr val="B42B31"/>
                  </a:solidFill>
                  <a:latin typeface="Arial"/>
                </a:rPr>
                <a:t>17 of 40</a:t>
              </a:r>
            </a:p>
          </p:txBody>
        </p:sp>
        <p:sp>
          <p:nvSpPr>
            <p:cNvPr id="19" name="TextBox 18"/>
            <p:cNvSpPr txBox="1"/>
            <p:nvPr/>
          </p:nvSpPr>
          <p:spPr>
            <a:xfrm>
              <a:off x="9253728" y="2651760"/>
              <a:ext cx="2194560" cy="1051560"/>
            </a:xfrm>
            <a:prstGeom prst="rect">
              <a:avLst/>
            </a:prstGeom>
            <a:noFill/>
          </p:spPr>
          <p:txBody>
            <a:bodyPr wrap="square" lIns="0" rIns="0" tIns="0" bIns="0" anchor="t">
              <a:noAutofit/>
            </a:bodyPr>
            <a:lstStyle/>
            <a:p>
              <a:pPr algn="l">
                <a:lnSpc>
                  <a:spcPct val="108000"/>
                </a:lnSpc>
              </a:pPr>
              <a:r>
                <a:rPr sz="2000" b="0" i="0">
                  <a:solidFill>
                    <a:srgbClr val="0E1726"/>
                  </a:solidFill>
                  <a:latin typeface="Arial"/>
                </a:rPr>
                <a:t>non-repeats wrongly flagged as repeats</a:t>
              </a:r>
            </a:p>
          </p:txBody>
        </p:sp>
      </p:grpSp>
      <p:grpSp>
        <p:nvGrpSpPr>
          <p:cNvPr id="20" name="Wins"/>
          <p:cNvGrpSpPr/>
          <p:nvPr/>
        </p:nvGrpSpPr>
        <p:grpSpPr>
          <a:xfrm>
            <a:off x="548640" y="3977639"/>
            <a:ext cx="5440680" cy="1783080"/>
            <a:chOff x="548640" y="3977639"/>
            <a:chExt cx="5440680" cy="1783080"/>
          </a:xfrm>
        </p:grpSpPr>
        <p:sp>
          <p:nvSpPr>
            <p:cNvPr id="21" name="Rounded Rectangle 20"/>
            <p:cNvSpPr/>
            <p:nvPr/>
          </p:nvSpPr>
          <p:spPr>
            <a:xfrm>
              <a:off x="548640" y="3977639"/>
              <a:ext cx="5440680" cy="1783080"/>
            </a:xfrm>
            <a:prstGeom prst="roundRect">
              <a:avLst>
                <a:gd name="adj" fmla="val 7179"/>
              </a:avLst>
            </a:prstGeom>
            <a:solidFill>
              <a:srgbClr val="FFFFFF"/>
            </a:solidFill>
            <a:ln w="12700">
              <a:solidFill>
                <a:srgbClr val="C6D0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977639"/>
              <a:ext cx="91440" cy="1783080"/>
            </a:xfrm>
            <a:prstGeom prst="rect">
              <a:avLst/>
            </a:prstGeom>
            <a:solidFill>
              <a:srgbClr val="1560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069080"/>
              <a:ext cx="4937760" cy="411480"/>
            </a:xfrm>
            <a:prstGeom prst="rect">
              <a:avLst/>
            </a:prstGeom>
            <a:noFill/>
          </p:spPr>
          <p:txBody>
            <a:bodyPr wrap="square" lIns="0" rIns="0" tIns="0" bIns="0" anchor="t">
              <a:noAutofit/>
            </a:bodyPr>
            <a:lstStyle/>
            <a:p>
              <a:pPr algn="l">
                <a:lnSpc>
                  <a:spcPct val="108000"/>
                </a:lnSpc>
              </a:pPr>
              <a:r>
                <a:rPr sz="2200" b="1" i="0">
                  <a:solidFill>
                    <a:srgbClr val="15603B"/>
                  </a:solidFill>
                  <a:latin typeface="Arial"/>
                </a:rPr>
                <a:t>Wins</a:t>
              </a:r>
            </a:p>
          </p:txBody>
        </p:sp>
        <p:sp>
          <p:nvSpPr>
            <p:cNvPr id="24" name="TextBox 23"/>
            <p:cNvSpPr txBox="1"/>
            <p:nvPr/>
          </p:nvSpPr>
          <p:spPr>
            <a:xfrm>
              <a:off x="868680" y="4526280"/>
              <a:ext cx="4937760" cy="1188720"/>
            </a:xfrm>
            <a:prstGeom prst="rect">
              <a:avLst/>
            </a:prstGeom>
            <a:noFill/>
          </p:spPr>
          <p:txBody>
            <a:bodyPr wrap="square" lIns="0" rIns="0" tIns="0" bIns="0" anchor="t">
              <a:noAutofit/>
            </a:bodyPr>
            <a:lstStyle/>
            <a:p>
              <a:pPr algn="l">
                <a:lnSpc>
                  <a:spcPct val="108000"/>
                </a:lnSpc>
              </a:pPr>
              <a:r>
                <a:rPr sz="2000" b="0" i="0">
                  <a:solidFill>
                    <a:srgbClr val="0E1726"/>
                  </a:solidFill>
                  <a:latin typeface="Arial"/>
                </a:rPr>
                <a:t>Fly-tipping: 6 of 6 right</a:t>
              </a:r>
            </a:p>
            <a:p>
              <a:pPr algn="l">
                <a:lnSpc>
                  <a:spcPct val="108000"/>
                </a:lnSpc>
              </a:pPr>
              <a:r>
                <a:rPr sz="2000" b="0" i="0">
                  <a:solidFill>
                    <a:srgbClr val="0E1726"/>
                  </a:solidFill>
                  <a:latin typeface="Arial"/>
                </a:rPr>
                <a:t>Exact double submissions: 2 of 2</a:t>
              </a:r>
            </a:p>
            <a:p>
              <a:pPr algn="l">
                <a:lnSpc>
                  <a:spcPct val="108000"/>
                </a:lnSpc>
              </a:pPr>
              <a:r>
                <a:rPr sz="2000" b="0" i="0">
                  <a:solidFill>
                    <a:srgbClr val="0E1726"/>
                  </a:solidFill>
                  <a:latin typeface="Arial"/>
                </a:rPr>
                <a:t>Look-alike pairs: 0 of 19 flagged</a:t>
              </a:r>
            </a:p>
          </p:txBody>
        </p:sp>
      </p:grpSp>
      <p:grpSp>
        <p:nvGrpSpPr>
          <p:cNvPr id="25" name="Where it fails"/>
          <p:cNvGrpSpPr/>
          <p:nvPr/>
        </p:nvGrpSpPr>
        <p:grpSpPr>
          <a:xfrm>
            <a:off x="6199631" y="3977639"/>
            <a:ext cx="5440680" cy="1783080"/>
            <a:chOff x="6199631" y="3977639"/>
            <a:chExt cx="5440680" cy="1783080"/>
          </a:xfrm>
        </p:grpSpPr>
        <p:sp>
          <p:nvSpPr>
            <p:cNvPr id="26" name="Rounded Rectangle 25"/>
            <p:cNvSpPr/>
            <p:nvPr/>
          </p:nvSpPr>
          <p:spPr>
            <a:xfrm>
              <a:off x="6199631" y="3977639"/>
              <a:ext cx="5440680" cy="1783080"/>
            </a:xfrm>
            <a:prstGeom prst="roundRect">
              <a:avLst>
                <a:gd name="adj" fmla="val 7179"/>
              </a:avLst>
            </a:prstGeom>
            <a:solidFill>
              <a:srgbClr val="FFFFFF"/>
            </a:solidFill>
            <a:ln w="12700">
              <a:solidFill>
                <a:srgbClr val="C6D0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99631" y="3977639"/>
              <a:ext cx="91440" cy="1783080"/>
            </a:xfrm>
            <a:prstGeom prst="rect">
              <a:avLst/>
            </a:prstGeom>
            <a:solidFill>
              <a:srgbClr val="B42B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19671" y="4069080"/>
              <a:ext cx="4937760" cy="411480"/>
            </a:xfrm>
            <a:prstGeom prst="rect">
              <a:avLst/>
            </a:prstGeom>
            <a:noFill/>
          </p:spPr>
          <p:txBody>
            <a:bodyPr wrap="square" lIns="0" rIns="0" tIns="0" bIns="0" anchor="t">
              <a:noAutofit/>
            </a:bodyPr>
            <a:lstStyle/>
            <a:p>
              <a:pPr algn="l">
                <a:lnSpc>
                  <a:spcPct val="108000"/>
                </a:lnSpc>
              </a:pPr>
              <a:r>
                <a:rPr sz="2200" b="1" i="0">
                  <a:solidFill>
                    <a:srgbClr val="B42B31"/>
                  </a:solidFill>
                  <a:latin typeface="Arial"/>
                </a:rPr>
                <a:t>Where it fails</a:t>
              </a:r>
            </a:p>
          </p:txBody>
        </p:sp>
        <p:sp>
          <p:nvSpPr>
            <p:cNvPr id="29" name="TextBox 28"/>
            <p:cNvSpPr txBox="1"/>
            <p:nvPr/>
          </p:nvSpPr>
          <p:spPr>
            <a:xfrm>
              <a:off x="6519671" y="4526280"/>
              <a:ext cx="4937760" cy="1188720"/>
            </a:xfrm>
            <a:prstGeom prst="rect">
              <a:avLst/>
            </a:prstGeom>
            <a:noFill/>
          </p:spPr>
          <p:txBody>
            <a:bodyPr wrap="square" lIns="0" rIns="0" tIns="0" bIns="0" anchor="t">
              <a:noAutofit/>
            </a:bodyPr>
            <a:lstStyle/>
            <a:p>
              <a:pPr algn="l">
                <a:lnSpc>
                  <a:spcPct val="108000"/>
                </a:lnSpc>
              </a:pPr>
              <a:r>
                <a:rPr sz="2000" b="0" i="0">
                  <a:solidFill>
                    <a:srgbClr val="0E1726"/>
                  </a:solidFill>
                  <a:latin typeface="Arial"/>
                </a:rPr>
                <a:t>Services we don't handle: 0 of 17</a:t>
              </a:r>
            </a:p>
            <a:p>
              <a:pPr algn="l">
                <a:lnSpc>
                  <a:spcPct val="108000"/>
                </a:lnSpc>
              </a:pPr>
              <a:r>
                <a:rPr sz="2000" b="0" i="0">
                  <a:solidFill>
                    <a:srgbClr val="0E1726"/>
                  </a:solidFill>
                  <a:latin typeface="Arial"/>
                </a:rPr>
                <a:t>Litter called fly-tipping: 4 of 6</a:t>
              </a:r>
            </a:p>
            <a:p>
              <a:pPr algn="l">
                <a:lnSpc>
                  <a:spcPct val="108000"/>
                </a:lnSpc>
              </a:pPr>
              <a:r>
                <a:rPr sz="2000" b="0" i="0">
                  <a:solidFill>
                    <a:srgbClr val="0E1726"/>
                  </a:solidFill>
                  <a:latin typeface="Arial"/>
                </a:rPr>
                <a:t>Busy streets: new problems merged</a:t>
              </a:r>
            </a:p>
          </p:txBody>
        </p:sp>
      </p:grpSp>
      <p:sp>
        <p:nvSpPr>
          <p:cNvPr id="30" name="TextBox 29"/>
          <p:cNvSpPr txBox="1"/>
          <p:nvPr/>
        </p:nvSpPr>
        <p:spPr>
          <a:xfrm>
            <a:off x="548640" y="5870448"/>
            <a:ext cx="11091672" cy="640080"/>
          </a:xfrm>
          <a:prstGeom prst="rect">
            <a:avLst/>
          </a:prstGeom>
          <a:noFill/>
        </p:spPr>
        <p:txBody>
          <a:bodyPr wrap="square" lIns="0" rIns="0" tIns="0" bIns="0" anchor="t">
            <a:noAutofit/>
          </a:bodyPr>
          <a:lstStyle/>
          <a:p>
            <a:pPr algn="l">
              <a:lnSpc>
                <a:spcPct val="108000"/>
              </a:lnSpc>
            </a:pPr>
            <a:r>
              <a:rPr sz="1800" b="0" i="0">
                <a:solidFill>
                  <a:srgbClr val="556273"/>
                </a:solidFill>
                <a:latin typeface="Arial"/>
              </a:rPr>
              <a:t>Source: NUMBERS.md. 60 real Southampton FixMyStreet reports and 70 pairs, labelled by us; ambiguous cases left out. Fetched 17 Oct 2026.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6" presetID="10" presetClass="entr" presetSubtype="0" fill="hold"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4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400"/>
                                        <p:tgtEl>
                                          <p:spTgt spid="2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019"/>
        </a:solidFill>
        <a:effectLst/>
      </p:bgPr>
    </p:bg>
    <p:spTree>
      <p:nvGrpSpPr>
        <p:cNvPr id="1" name=""/>
        <p:cNvGrpSpPr/>
        <p:nvPr/>
      </p:nvGrpSpPr>
      <p:grpSpPr/>
      <p:sp>
        <p:nvSpPr>
          <p:cNvPr id="2" name="!!kicker"/>
          <p:cNvSpPr txBox="1"/>
          <p:nvPr/>
        </p:nvSpPr>
        <p:spPr>
          <a:xfrm>
            <a:off x="548640" y="384048"/>
            <a:ext cx="8229600" cy="365760"/>
          </a:xfrm>
          <a:prstGeom prst="rect">
            <a:avLst/>
          </a:prstGeom>
          <a:noFill/>
        </p:spPr>
        <p:txBody>
          <a:bodyPr wrap="square" lIns="0" rIns="0" tIns="0" bIns="0" anchor="t">
            <a:noAutofit/>
          </a:bodyPr>
          <a:lstStyle/>
          <a:p>
            <a:pPr algn="l">
              <a:lnSpc>
                <a:spcPct val="108000"/>
              </a:lnSpc>
            </a:pPr>
            <a:r>
              <a:rPr sz="1800" b="1" i="0">
                <a:solidFill>
                  <a:srgbClr val="5FB4EC"/>
                </a:solidFill>
                <a:latin typeface="Arial"/>
              </a:rPr>
              <a:t>WHAT'S NEXT</a:t>
            </a:r>
          </a:p>
        </p:txBody>
      </p:sp>
      <p:sp>
        <p:nvSpPr>
          <p:cNvPr id="3" name="!!title"/>
          <p:cNvSpPr txBox="1"/>
          <p:nvPr/>
        </p:nvSpPr>
        <p:spPr>
          <a:xfrm>
            <a:off x="548640" y="713232"/>
            <a:ext cx="11064240" cy="685800"/>
          </a:xfrm>
          <a:prstGeom prst="rect">
            <a:avLst/>
          </a:prstGeom>
          <a:noFill/>
        </p:spPr>
        <p:txBody>
          <a:bodyPr wrap="square" lIns="0" rIns="0" tIns="0" bIns="0" anchor="t">
            <a:noAutofit/>
          </a:bodyPr>
          <a:lstStyle/>
          <a:p>
            <a:pPr algn="l">
              <a:lnSpc>
                <a:spcPct val="108000"/>
              </a:lnSpc>
            </a:pPr>
            <a:r>
              <a:rPr sz="3600" b="1" i="0">
                <a:solidFill>
                  <a:srgbClr val="E8EEF5"/>
                </a:solidFill>
                <a:latin typeface="Arial"/>
              </a:rPr>
              <a:t>From a demo to a council pilot</a:t>
            </a:r>
          </a:p>
        </p:txBody>
      </p:sp>
      <p:grpSp>
        <p:nvGrpSpPr>
          <p:cNvPr id="4" name="Next 1"/>
          <p:cNvGrpSpPr/>
          <p:nvPr/>
        </p:nvGrpSpPr>
        <p:grpSpPr>
          <a:xfrm>
            <a:off x="548640" y="1764792"/>
            <a:ext cx="6949440" cy="1252728"/>
            <a:chOff x="548640" y="1764792"/>
            <a:chExt cx="6949440" cy="1252728"/>
          </a:xfrm>
        </p:grpSpPr>
        <p:sp>
          <p:nvSpPr>
            <p:cNvPr id="5" name="Oval 4"/>
            <p:cNvSpPr/>
            <p:nvPr/>
          </p:nvSpPr>
          <p:spPr>
            <a:xfrm>
              <a:off x="548640" y="1783080"/>
              <a:ext cx="640080" cy="640080"/>
            </a:xfrm>
            <a:prstGeom prst="ellipse">
              <a:avLst/>
            </a:prstGeom>
            <a:solidFill>
              <a:srgbClr val="5FB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8000"/>
                </a:lnSpc>
              </a:pPr>
              <a:r>
                <a:rPr sz="2400" b="1" i="0">
                  <a:solidFill>
                    <a:srgbClr val="0A1019"/>
                  </a:solidFill>
                  <a:latin typeface="Arial"/>
                </a:rPr>
                <a:t>1</a:t>
              </a:r>
            </a:p>
          </p:txBody>
        </p:sp>
        <p:sp>
          <p:nvSpPr>
            <p:cNvPr id="6" name="TextBox 5"/>
            <p:cNvSpPr txBox="1"/>
            <p:nvPr/>
          </p:nvSpPr>
          <p:spPr>
            <a:xfrm>
              <a:off x="1463040" y="1764792"/>
              <a:ext cx="6035040" cy="457200"/>
            </a:xfrm>
            <a:prstGeom prst="rect">
              <a:avLst/>
            </a:prstGeom>
            <a:noFill/>
          </p:spPr>
          <p:txBody>
            <a:bodyPr wrap="square" lIns="0" rIns="0" tIns="0" bIns="0" anchor="t">
              <a:noAutofit/>
            </a:bodyPr>
            <a:lstStyle/>
            <a:p>
              <a:pPr algn="l">
                <a:lnSpc>
                  <a:spcPct val="108000"/>
                </a:lnSpc>
              </a:pPr>
              <a:r>
                <a:rPr sz="2600" b="1" i="0">
                  <a:solidFill>
                    <a:srgbClr val="E8EEF5"/>
                  </a:solidFill>
                  <a:latin typeface="Arial"/>
                </a:rPr>
                <a:t>Measure the agent</a:t>
              </a:r>
            </a:p>
          </p:txBody>
        </p:sp>
        <p:sp>
          <p:nvSpPr>
            <p:cNvPr id="7" name="TextBox 6"/>
            <p:cNvSpPr txBox="1"/>
            <p:nvPr/>
          </p:nvSpPr>
          <p:spPr>
            <a:xfrm>
              <a:off x="1463040" y="2240280"/>
              <a:ext cx="6035040" cy="777240"/>
            </a:xfrm>
            <a:prstGeom prst="rect">
              <a:avLst/>
            </a:prstGeom>
            <a:noFill/>
          </p:spPr>
          <p:txBody>
            <a:bodyPr wrap="square" lIns="0" rIns="0" tIns="0" bIns="0" anchor="t">
              <a:noAutofit/>
            </a:bodyPr>
            <a:lstStyle/>
            <a:p>
              <a:pPr algn="l">
                <a:lnSpc>
                  <a:spcPct val="108000"/>
                </a:lnSpc>
              </a:pPr>
              <a:r>
                <a:rPr sz="2000" b="0" i="0">
                  <a:solidFill>
                    <a:srgbClr val="B6C2D0"/>
                  </a:solidFill>
                  <a:latin typeface="Arial"/>
                </a:rPr>
                <a:t>Accuracy and cost per report, on the same test set.</a:t>
              </a:r>
            </a:p>
          </p:txBody>
        </p:sp>
      </p:grpSp>
      <p:grpSp>
        <p:nvGrpSpPr>
          <p:cNvPr id="8" name="Next 2"/>
          <p:cNvGrpSpPr/>
          <p:nvPr/>
        </p:nvGrpSpPr>
        <p:grpSpPr>
          <a:xfrm>
            <a:off x="548640" y="3182112"/>
            <a:ext cx="6949440" cy="1252728"/>
            <a:chOff x="548640" y="3182112"/>
            <a:chExt cx="6949440" cy="1252728"/>
          </a:xfrm>
        </p:grpSpPr>
        <p:sp>
          <p:nvSpPr>
            <p:cNvPr id="9" name="Oval 8"/>
            <p:cNvSpPr/>
            <p:nvPr/>
          </p:nvSpPr>
          <p:spPr>
            <a:xfrm>
              <a:off x="548640" y="3200400"/>
              <a:ext cx="640080" cy="640080"/>
            </a:xfrm>
            <a:prstGeom prst="ellipse">
              <a:avLst/>
            </a:prstGeom>
            <a:solidFill>
              <a:srgbClr val="5FB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8000"/>
                </a:lnSpc>
              </a:pPr>
              <a:r>
                <a:rPr sz="2400" b="1" i="0">
                  <a:solidFill>
                    <a:srgbClr val="0A1019"/>
                  </a:solidFill>
                  <a:latin typeface="Arial"/>
                </a:rPr>
                <a:t>2</a:t>
              </a:r>
            </a:p>
          </p:txBody>
        </p:sp>
        <p:sp>
          <p:nvSpPr>
            <p:cNvPr id="10" name="TextBox 9"/>
            <p:cNvSpPr txBox="1"/>
            <p:nvPr/>
          </p:nvSpPr>
          <p:spPr>
            <a:xfrm>
              <a:off x="1463040" y="3182112"/>
              <a:ext cx="6035040" cy="457200"/>
            </a:xfrm>
            <a:prstGeom prst="rect">
              <a:avLst/>
            </a:prstGeom>
            <a:noFill/>
          </p:spPr>
          <p:txBody>
            <a:bodyPr wrap="square" lIns="0" rIns="0" tIns="0" bIns="0" anchor="t">
              <a:noAutofit/>
            </a:bodyPr>
            <a:lstStyle/>
            <a:p>
              <a:pPr algn="l">
                <a:lnSpc>
                  <a:spcPct val="108000"/>
                </a:lnSpc>
              </a:pPr>
              <a:r>
                <a:rPr sz="2600" b="1" i="0">
                  <a:solidFill>
                    <a:srgbClr val="E8EEF5"/>
                  </a:solidFill>
                  <a:latin typeface="Arial"/>
                </a:rPr>
                <a:t>Send reports to the council</a:t>
              </a:r>
            </a:p>
          </p:txBody>
        </p:sp>
        <p:sp>
          <p:nvSpPr>
            <p:cNvPr id="11" name="TextBox 10"/>
            <p:cNvSpPr txBox="1"/>
            <p:nvPr/>
          </p:nvSpPr>
          <p:spPr>
            <a:xfrm>
              <a:off x="1463040" y="3657600"/>
              <a:ext cx="6035040" cy="777240"/>
            </a:xfrm>
            <a:prstGeom prst="rect">
              <a:avLst/>
            </a:prstGeom>
            <a:noFill/>
          </p:spPr>
          <p:txBody>
            <a:bodyPr wrap="square" lIns="0" rIns="0" tIns="0" bIns="0" anchor="t">
              <a:noAutofit/>
            </a:bodyPr>
            <a:lstStyle/>
            <a:p>
              <a:pPr algn="l">
                <a:lnSpc>
                  <a:spcPct val="108000"/>
                </a:lnSpc>
              </a:pPr>
              <a:r>
                <a:rPr sz="2000" b="0" i="0">
                  <a:solidFill>
                    <a:srgbClr val="B6C2D0"/>
                  </a:solidFill>
                  <a:latin typeface="Arial"/>
                </a:rPr>
                <a:t>Today they are saved here only. Next: the council's own forms.</a:t>
              </a:r>
            </a:p>
          </p:txBody>
        </p:sp>
      </p:grpSp>
      <p:grpSp>
        <p:nvGrpSpPr>
          <p:cNvPr id="12" name="Next 3"/>
          <p:cNvGrpSpPr/>
          <p:nvPr/>
        </p:nvGrpSpPr>
        <p:grpSpPr>
          <a:xfrm>
            <a:off x="548640" y="4599432"/>
            <a:ext cx="6949440" cy="1252728"/>
            <a:chOff x="548640" y="4599432"/>
            <a:chExt cx="6949440" cy="1252728"/>
          </a:xfrm>
        </p:grpSpPr>
        <p:sp>
          <p:nvSpPr>
            <p:cNvPr id="13" name="Oval 12"/>
            <p:cNvSpPr/>
            <p:nvPr/>
          </p:nvSpPr>
          <p:spPr>
            <a:xfrm>
              <a:off x="548640" y="4617720"/>
              <a:ext cx="640080" cy="640080"/>
            </a:xfrm>
            <a:prstGeom prst="ellipse">
              <a:avLst/>
            </a:prstGeom>
            <a:solidFill>
              <a:srgbClr val="5FB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8000"/>
                </a:lnSpc>
              </a:pPr>
              <a:r>
                <a:rPr sz="2400" b="1" i="0">
                  <a:solidFill>
                    <a:srgbClr val="0A1019"/>
                  </a:solidFill>
                  <a:latin typeface="Arial"/>
                </a:rPr>
                <a:t>3</a:t>
              </a:r>
            </a:p>
          </p:txBody>
        </p:sp>
        <p:sp>
          <p:nvSpPr>
            <p:cNvPr id="14" name="TextBox 13"/>
            <p:cNvSpPr txBox="1"/>
            <p:nvPr/>
          </p:nvSpPr>
          <p:spPr>
            <a:xfrm>
              <a:off x="1463040" y="4599432"/>
              <a:ext cx="6035040" cy="457200"/>
            </a:xfrm>
            <a:prstGeom prst="rect">
              <a:avLst/>
            </a:prstGeom>
            <a:noFill/>
          </p:spPr>
          <p:txBody>
            <a:bodyPr wrap="square" lIns="0" rIns="0" tIns="0" bIns="0" anchor="t">
              <a:noAutofit/>
            </a:bodyPr>
            <a:lstStyle/>
            <a:p>
              <a:pPr algn="l">
                <a:lnSpc>
                  <a:spcPct val="108000"/>
                </a:lnSpc>
              </a:pPr>
              <a:r>
                <a:rPr sz="2600" b="1" i="0">
                  <a:solidFill>
                    <a:srgbClr val="E8EEF5"/>
                  </a:solidFill>
                  <a:latin typeface="Arial"/>
                </a:rPr>
                <a:t>Try it with one council team</a:t>
              </a:r>
            </a:p>
          </p:txBody>
        </p:sp>
        <p:sp>
          <p:nvSpPr>
            <p:cNvPr id="15" name="TextBox 14"/>
            <p:cNvSpPr txBox="1"/>
            <p:nvPr/>
          </p:nvSpPr>
          <p:spPr>
            <a:xfrm>
              <a:off x="1463040" y="5074920"/>
              <a:ext cx="6035040" cy="777240"/>
            </a:xfrm>
            <a:prstGeom prst="rect">
              <a:avLst/>
            </a:prstGeom>
            <a:noFill/>
          </p:spPr>
          <p:txBody>
            <a:bodyPr wrap="square" lIns="0" rIns="0" tIns="0" bIns="0" anchor="t">
              <a:noAutofit/>
            </a:bodyPr>
            <a:lstStyle/>
            <a:p>
              <a:pPr algn="l">
                <a:lnSpc>
                  <a:spcPct val="108000"/>
                </a:lnSpc>
              </a:pPr>
              <a:r>
                <a:rPr sz="2000" b="0" i="0">
                  <a:solidFill>
                    <a:srgbClr val="B6C2D0"/>
                  </a:solidFill>
                  <a:latin typeface="Arial"/>
                </a:rPr>
                <a:t>“Every UK council handles the same kind of reports.” (track brief)</a:t>
              </a:r>
            </a:p>
          </p:txBody>
        </p:sp>
      </p:grpSp>
      <p:sp>
        <p:nvSpPr>
          <p:cNvPr id="16" name="Rounded Rectangle 15"/>
          <p:cNvSpPr/>
          <p:nvPr/>
        </p:nvSpPr>
        <p:spPr>
          <a:xfrm>
            <a:off x="7909560" y="1691640"/>
            <a:ext cx="3730752" cy="4206240"/>
          </a:xfrm>
          <a:prstGeom prst="roundRect">
            <a:avLst>
              <a:gd name="adj" fmla="val 3431"/>
            </a:avLst>
          </a:prstGeom>
          <a:solidFill>
            <a:srgbClr val="111925"/>
          </a:solidFill>
          <a:ln w="12700">
            <a:solidFill>
              <a:srgbClr val="2A37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79" y="1920240"/>
            <a:ext cx="3200400" cy="457200"/>
          </a:xfrm>
          <a:prstGeom prst="rect">
            <a:avLst/>
          </a:prstGeom>
          <a:noFill/>
        </p:spPr>
        <p:txBody>
          <a:bodyPr wrap="square" lIns="0" rIns="0" tIns="0" bIns="0" anchor="t">
            <a:noAutofit/>
          </a:bodyPr>
          <a:lstStyle/>
          <a:p>
            <a:pPr algn="l">
              <a:lnSpc>
                <a:spcPct val="108000"/>
              </a:lnSpc>
            </a:pPr>
            <a:r>
              <a:rPr sz="2400" b="1" i="0">
                <a:solidFill>
                  <a:srgbClr val="5FB4EC"/>
                </a:solidFill>
                <a:latin typeface="Arial"/>
              </a:rPr>
              <a:t>Team</a:t>
            </a:r>
          </a:p>
        </p:txBody>
      </p:sp>
      <p:sp>
        <p:nvSpPr>
          <p:cNvPr id="18" name="TextBox 17"/>
          <p:cNvSpPr txBox="1"/>
          <p:nvPr/>
        </p:nvSpPr>
        <p:spPr>
          <a:xfrm>
            <a:off x="8183879" y="2514600"/>
            <a:ext cx="3200400" cy="2377440"/>
          </a:xfrm>
          <a:prstGeom prst="rect">
            <a:avLst/>
          </a:prstGeom>
          <a:noFill/>
        </p:spPr>
        <p:txBody>
          <a:bodyPr wrap="square" lIns="0" rIns="0" tIns="0" bIns="0" anchor="t">
            <a:noAutofit/>
          </a:bodyPr>
          <a:lstStyle/>
          <a:p>
            <a:pPr algn="l">
              <a:lnSpc>
                <a:spcPct val="108000"/>
              </a:lnSpc>
              <a:spcAft>
                <a:spcPts val="800"/>
              </a:spcAft>
            </a:pPr>
            <a:r>
              <a:rPr sz="2000" b="0" i="0">
                <a:solidFill>
                  <a:srgbClr val="E8EEF5"/>
                </a:solidFill>
                <a:latin typeface="Arial"/>
              </a:rPr>
              <a:t>Krish Mathur</a:t>
            </a:r>
          </a:p>
          <a:p>
            <a:pPr algn="l">
              <a:lnSpc>
                <a:spcPct val="108000"/>
              </a:lnSpc>
              <a:spcAft>
                <a:spcPts val="800"/>
              </a:spcAft>
            </a:pPr>
            <a:r>
              <a:rPr sz="2000" b="0" i="0">
                <a:solidFill>
                  <a:srgbClr val="E8EEF5"/>
                </a:solidFill>
                <a:latin typeface="Arial"/>
              </a:rPr>
              <a:t>Aadil Sirajudeen</a:t>
            </a:r>
          </a:p>
          <a:p>
            <a:pPr algn="l">
              <a:lnSpc>
                <a:spcPct val="108000"/>
              </a:lnSpc>
              <a:spcAft>
                <a:spcPts val="800"/>
              </a:spcAft>
            </a:pPr>
            <a:r>
              <a:rPr sz="2000" b="0" i="0">
                <a:solidFill>
                  <a:srgbClr val="E8EEF5"/>
                </a:solidFill>
                <a:latin typeface="Arial"/>
              </a:rPr>
              <a:t>Anirudh Udupi Diggavi</a:t>
            </a:r>
          </a:p>
          <a:p>
            <a:pPr algn="l">
              <a:lnSpc>
                <a:spcPct val="108000"/>
              </a:lnSpc>
              <a:spcAft>
                <a:spcPts val="800"/>
              </a:spcAft>
            </a:pPr>
            <a:r>
              <a:rPr sz="2000" b="0" i="0">
                <a:solidFill>
                  <a:srgbClr val="E8EEF5"/>
                </a:solidFill>
                <a:latin typeface="Arial"/>
              </a:rPr>
              <a:t>[SID24555: name to confirm]</a:t>
            </a:r>
          </a:p>
        </p:txBody>
      </p:sp>
      <p:sp>
        <p:nvSpPr>
          <p:cNvPr id="19" name="TextBox 18"/>
          <p:cNvSpPr txBox="1"/>
          <p:nvPr/>
        </p:nvSpPr>
        <p:spPr>
          <a:xfrm>
            <a:off x="8183879" y="4983480"/>
            <a:ext cx="3200400" cy="731520"/>
          </a:xfrm>
          <a:prstGeom prst="rect">
            <a:avLst/>
          </a:prstGeom>
          <a:noFill/>
        </p:spPr>
        <p:txBody>
          <a:bodyPr wrap="square" lIns="0" rIns="0" tIns="0" bIns="0" anchor="t">
            <a:noAutofit/>
          </a:bodyPr>
          <a:lstStyle/>
          <a:p>
            <a:pPr algn="l">
              <a:lnSpc>
                <a:spcPct val="108000"/>
              </a:lnSpc>
            </a:pPr>
            <a:r>
              <a:rPr sz="1800" b="0" i="0">
                <a:solidFill>
                  <a:srgbClr val="95A2B3"/>
                </a:solidFill>
                <a:latin typeface="Arial"/>
              </a:rPr>
              <a:t>SotonShip 2026</a:t>
            </a:r>
          </a:p>
          <a:p>
            <a:pPr algn="l">
              <a:lnSpc>
                <a:spcPct val="108000"/>
              </a:lnSpc>
            </a:pPr>
            <a:r>
              <a:rPr sz="1800" b="0" i="0">
                <a:solidFill>
                  <a:srgbClr val="95A2B3"/>
                </a:solidFill>
                <a:latin typeface="Arial"/>
              </a:rPr>
              <a:t>Southampton City track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Kerbside: SotonShip 2026 pitch</dc:title>
  <dc:subject/>
  <dc:creator>Kerbside team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